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投資内訳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C79A"/>
              </a:solidFill>
              <a:effectLst/>
            </c:spPr>
          </c:dPt>
          <c:dPt>
            <c:idx val="1"/>
            <c:bubble3D val="0"/>
            <c:spPr>
              <a:solidFill>
                <a:srgbClr val="0F9B74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D48E1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車両購入</c:v>
                </c:pt>
                <c:pt idx="1">
                  <c:v>登録等</c:v>
                </c:pt>
                <c:pt idx="2">
                  <c:v>設備</c:v>
                </c:pt>
                <c:pt idx="3">
                  <c:v>Web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86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950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6C79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914400" cy="914400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6187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94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レンタカー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事業計画書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個人事業 × AI活用で実現する、新しいレンタカー体験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開業予定地：千葉県（首都圏・房総エリア）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事業概要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0972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097280"/>
            <a:ext cx="54864" cy="128016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事業名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37160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AIレンタカー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26280" y="10972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26280" y="1097280"/>
            <a:ext cx="54864" cy="128016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5" name="Shape 11"/>
          <p:cNvSpPr/>
          <p:nvPr/>
        </p:nvSpPr>
        <p:spPr>
          <a:xfrm>
            <a:off x="4754880" y="137160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63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事業形態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394960" y="1554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個人事業主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（副業スタート）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02920" y="260604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" y="2606040"/>
            <a:ext cx="54864" cy="128016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718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事業内容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371600" y="3063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普通自動車のレンタカー事業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（日貸・時間貸）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526280" y="260604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2606040"/>
            <a:ext cx="54864" cy="128016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7" name="Shape 21"/>
          <p:cNvSpPr/>
          <p:nvPr/>
        </p:nvSpPr>
        <p:spPr>
          <a:xfrm>
            <a:off x="4754880" y="288036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718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94960" y="2788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開業予定地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394960" y="3063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千葉県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（首都圏・房総エリア）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02920" y="4251960"/>
            <a:ext cx="7772400" cy="4114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1596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05840" y="4251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将来構想：キャンピングカーを含む車両ラインナップの拡大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38" name="Text 29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提供価値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097280"/>
            <a:ext cx="54864" cy="7315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234440"/>
            <a:ext cx="457200" cy="4572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レジャー最適化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1481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週末・レジャー利用に最適化した車両ラインナップを提供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清潔・高品質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2350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徹底した車両管理で清潔・高品質な状態を維持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2834640"/>
            <a:ext cx="54864" cy="7315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柔軟な対応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417320" y="32186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個人運営ならではの柔軟な受渡・きめ細かい対応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370332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FFF8E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AI活用運営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417320" y="4087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需要予測・価格最適化・予約最適化による高稼働運営（将来）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ターゲット顧客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4754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097280"/>
            <a:ext cx="54864" cy="150876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FFF8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270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首都圏在住の個人・ファミリー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54480" y="17373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車を持たない都心部居住者が主要顧客層。週末の外出・旅行需要が高い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788920"/>
            <a:ext cx="4754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788920"/>
            <a:ext cx="54864" cy="150876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108960"/>
            <a:ext cx="594360" cy="59436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2186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週末・連休の観光・アウトドア利用者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房総エリアへのドライブ、キャンプ、海水浴など季節イベントの需要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0" y="1097280"/>
            <a:ext cx="3108960" cy="3383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5"/>
          <p:cNvSpPr/>
          <p:nvPr/>
        </p:nvSpPr>
        <p:spPr>
          <a:xfrm>
            <a:off x="566928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56692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将来ターゲット</a:t>
            </a:r>
            <a:endParaRPr lang="en-US" sz="15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14884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893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マイカー非保有層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98932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維持費を避けつつ必要時のみ利用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1089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893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法人・長期レンタル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98932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代車・業務用途での安定需要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32" name="Text 24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市場・競合環境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E6FA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5272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市場環境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34440" y="1481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観光回復・アウトドア需要増加により、レンタカー市場は安定成長中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競合比較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514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514600"/>
            <a:ext cx="2606040" cy="45720"/>
          </a:xfrm>
          <a:prstGeom prst="rect">
            <a:avLst/>
          </a:prstGeom>
          <a:solidFill>
            <a:srgbClr val="CED4DA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大手レンタカー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8580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画一的なサービス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高価格帯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手続きが煩雑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83280" y="251460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83280" y="2514600"/>
            <a:ext cx="2606040" cy="45720"/>
          </a:xfrm>
          <a:prstGeom prst="rect">
            <a:avLst/>
          </a:prstGeom>
          <a:solidFill>
            <a:srgbClr val="CED4DA"/>
          </a:solidFill>
          <a:ln/>
        </p:spPr>
      </p:sp>
      <p:sp>
        <p:nvSpPr>
          <p:cNvPr id="18" name="Text 14"/>
          <p:cNvSpPr/>
          <p:nvPr/>
        </p:nvSpPr>
        <p:spPr>
          <a:xfrm>
            <a:off x="35204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地場中小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2044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品質にばらつき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知名度が低い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予約がしにくい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2514600"/>
            <a:ext cx="2606040" cy="2011680"/>
          </a:xfrm>
          <a:prstGeom prst="rect">
            <a:avLst/>
          </a:prstGeom>
          <a:solidFill>
            <a:srgbClr val="E6FAF3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2514600"/>
            <a:ext cx="2606040" cy="45720"/>
          </a:xfrm>
          <a:prstGeom prst="rect">
            <a:avLst/>
          </a:prstGeom>
          <a:solidFill>
            <a:srgbClr val="16C79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65176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AIレンタカー（当社）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5508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用途特化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9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品質重視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9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柔軟な運営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サービス内容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基本サービス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417320"/>
            <a:ext cx="54864" cy="640080"/>
          </a:xfrm>
          <a:prstGeom prst="rect">
            <a:avLst/>
          </a:prstGeom>
          <a:solidFill>
            <a:srgbClr val="16C7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417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レンタカー（日貸・時間貸）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1945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194560"/>
            <a:ext cx="54864" cy="640080"/>
          </a:xfrm>
          <a:prstGeom prst="rect">
            <a:avLst/>
          </a:prstGeom>
          <a:solidFill>
            <a:srgbClr val="16C79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週末・連休向けプラン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オプション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" y="35204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/>
        </p:spPr>
      </p:sp>
      <p:sp>
        <p:nvSpPr>
          <p:cNvPr id="18" name="Text 13"/>
          <p:cNvSpPr/>
          <p:nvPr/>
        </p:nvSpPr>
        <p:spPr>
          <a:xfrm>
            <a:off x="548640" y="3520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チャイルドシート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1920240" y="35204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/>
        </p:spPr>
      </p:sp>
      <p:sp>
        <p:nvSpPr>
          <p:cNvPr id="20" name="Text 15"/>
          <p:cNvSpPr/>
          <p:nvPr/>
        </p:nvSpPr>
        <p:spPr>
          <a:xfrm>
            <a:off x="1920240" y="3520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ETC車載器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291840" y="35204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/>
        </p:spPr>
      </p:sp>
      <p:sp>
        <p:nvSpPr>
          <p:cNvPr id="22" name="Text 17"/>
          <p:cNvSpPr/>
          <p:nvPr/>
        </p:nvSpPr>
        <p:spPr>
          <a:xfrm>
            <a:off x="3291840" y="3520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アウトドア用品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754880" y="1097280"/>
            <a:ext cx="3840480" cy="35204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19"/>
          <p:cNvSpPr/>
          <p:nvPr/>
        </p:nvSpPr>
        <p:spPr>
          <a:xfrm>
            <a:off x="493776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9377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将来構想</a:t>
            </a:r>
            <a:endParaRPr lang="en-US" sz="17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7627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キャンピングカー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ラインナップ追加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90779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924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法人契約の獲得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39312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4924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長期レンタルプラン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5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集客・販売チャネル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097280"/>
            <a:ext cx="1828800" cy="3474720"/>
          </a:xfrm>
          <a:prstGeom prst="rect">
            <a:avLst/>
          </a:prstGeom>
          <a:solidFill>
            <a:srgbClr val="E6FAF3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097280"/>
            <a:ext cx="182880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11580" y="2057400"/>
            <a:ext cx="685800" cy="6858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2194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自社Webサイト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152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予約・問い合わせの受付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オンライン完結で24h対応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651760" y="1097280"/>
            <a:ext cx="1828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651760" y="1097280"/>
            <a:ext cx="182880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7" name="Shape 13"/>
          <p:cNvSpPr/>
          <p:nvPr/>
        </p:nvSpPr>
        <p:spPr>
          <a:xfrm>
            <a:off x="2788920" y="1371600"/>
            <a:ext cx="411480" cy="41148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8" name="Text 14"/>
          <p:cNvSpPr/>
          <p:nvPr/>
        </p:nvSpPr>
        <p:spPr>
          <a:xfrm>
            <a:off x="27889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223260" y="2057400"/>
            <a:ext cx="685800" cy="6858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21945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4320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レンタカー比較サイト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74320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大手比較サイトへの掲載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新規顧客の流入経路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63440" y="1097280"/>
            <a:ext cx="1828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1097280"/>
            <a:ext cx="182880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5" name="Shape 20"/>
          <p:cNvSpPr/>
          <p:nvPr/>
        </p:nvSpPr>
        <p:spPr>
          <a:xfrm>
            <a:off x="4800600" y="1371600"/>
            <a:ext cx="411480" cy="41148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6" name="Text 21"/>
          <p:cNvSpPr/>
          <p:nvPr/>
        </p:nvSpPr>
        <p:spPr>
          <a:xfrm>
            <a:off x="4800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234940" y="2057400"/>
            <a:ext cx="685800" cy="6858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219456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5488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Googleマップ・口コミ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75488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ローカルSEO対策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実績と信頼の可視化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675120" y="1097280"/>
            <a:ext cx="1828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675120" y="1097280"/>
            <a:ext cx="182880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3" name="Shape 27"/>
          <p:cNvSpPr/>
          <p:nvPr/>
        </p:nvSpPr>
        <p:spPr>
          <a:xfrm>
            <a:off x="6812280" y="1371600"/>
            <a:ext cx="411480" cy="41148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4" name="Text 28"/>
          <p:cNvSpPr/>
          <p:nvPr/>
        </p:nvSpPr>
        <p:spPr>
          <a:xfrm>
            <a:off x="68122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246620" y="2057400"/>
            <a:ext cx="685800" cy="68580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194560"/>
            <a:ext cx="411480" cy="4114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766560" y="2926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SNS（Instagram等）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76656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車両・利用シーンの発信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ブランド認知度向上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3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オペレーション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5029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運営体制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1737360"/>
            <a:ext cx="1371600" cy="1371600"/>
          </a:xfrm>
          <a:prstGeom prst="ellipse">
            <a:avLst/>
          </a:prstGeom>
          <a:solidFill>
            <a:srgbClr val="E6FAF3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9B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1名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3716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9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代表者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830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受付対応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42316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車両管理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06324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204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清掃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70332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2044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731520" y="3749040"/>
            <a:ext cx="4663440" cy="502920"/>
          </a:xfrm>
          <a:prstGeom prst="rect">
            <a:avLst/>
          </a:prstGeom>
          <a:solidFill>
            <a:srgbClr val="FFF8EC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4048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8872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繁忙期は清掃・点検の外注を検討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5852160" y="1097280"/>
            <a:ext cx="2743200" cy="3383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16"/>
          <p:cNvSpPr/>
          <p:nvPr/>
        </p:nvSpPr>
        <p:spPr>
          <a:xfrm>
            <a:off x="603504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運営方針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03504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副業からスタートし固定費を最小限に抑え、段階的に事業を拡大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035040" y="2606040"/>
            <a:ext cx="2194560" cy="0"/>
          </a:xfrm>
          <a:prstGeom prst="line">
            <a:avLst/>
          </a:prstGeom>
          <a:noFill/>
          <a:ln w="12700">
            <a:solidFill>
              <a:srgbClr val="16C79A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2807208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30936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低リスク・段階拡大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218688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0936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品質優先の管理体制</a:t>
            </a:r>
            <a:endParaRPr lang="en-US" sz="10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630168"/>
            <a:ext cx="182880" cy="1828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30936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柔軟なコスト構造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3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37" name="Text 25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初期投資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車両購入（中古1台）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34640" y="1280160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10" name="Shape 7"/>
          <p:cNvSpPr/>
          <p:nvPr/>
        </p:nvSpPr>
        <p:spPr>
          <a:xfrm>
            <a:off x="2834640" y="1280160"/>
            <a:ext cx="1165860" cy="182880"/>
          </a:xfrm>
          <a:prstGeom prst="roundRect">
            <a:avLst>
              <a:gd name="adj" fmla="val 20000"/>
            </a:avLst>
          </a:prstGeom>
          <a:solidFill>
            <a:srgbClr val="16C79A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1097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600〜900万円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783080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登録・整備・保険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34640" y="1965960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15" name="Shape 12"/>
          <p:cNvSpPr/>
          <p:nvPr/>
        </p:nvSpPr>
        <p:spPr>
          <a:xfrm>
            <a:off x="2834640" y="1965960"/>
            <a:ext cx="96012" cy="182880"/>
          </a:xfrm>
          <a:prstGeom prst="roundRect">
            <a:avLst>
              <a:gd name="adj" fmla="val 38095"/>
            </a:avLst>
          </a:prstGeom>
          <a:solidFill>
            <a:srgbClr val="0F9B74"/>
          </a:solidFill>
          <a:ln/>
        </p:spPr>
      </p:sp>
      <p:sp>
        <p:nvSpPr>
          <p:cNvPr id="16" name="Text 13"/>
          <p:cNvSpPr/>
          <p:nvPr/>
        </p:nvSpPr>
        <p:spPr>
          <a:xfrm>
            <a:off x="4297680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50万円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2468880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設備・備品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34640" y="2651760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0" name="Shape 17"/>
          <p:cNvSpPr/>
          <p:nvPr/>
        </p:nvSpPr>
        <p:spPr>
          <a:xfrm>
            <a:off x="2834640" y="2651760"/>
            <a:ext cx="41148" cy="182880"/>
          </a:xfrm>
          <a:prstGeom prst="roundRect">
            <a:avLst>
              <a:gd name="adj" fmla="val 88889"/>
            </a:avLst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4297680" y="2468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20万円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154680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152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Web・広告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34640" y="3337560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/>
        </p:spPr>
      </p:sp>
      <p:sp>
        <p:nvSpPr>
          <p:cNvPr id="25" name="Shape 22"/>
          <p:cNvSpPr/>
          <p:nvPr/>
        </p:nvSpPr>
        <p:spPr>
          <a:xfrm>
            <a:off x="2834640" y="3337560"/>
            <a:ext cx="27432" cy="182880"/>
          </a:xfrm>
          <a:prstGeom prst="roundRect">
            <a:avLst>
              <a:gd name="adj" fmla="val 133333"/>
            </a:avLst>
          </a:prstGeom>
          <a:solidFill>
            <a:srgbClr val="D48E1A"/>
          </a:solidFill>
          <a:ln/>
        </p:spPr>
      </p:sp>
      <p:sp>
        <p:nvSpPr>
          <p:cNvPr id="26" name="Text 23"/>
          <p:cNvSpPr/>
          <p:nvPr/>
        </p:nvSpPr>
        <p:spPr>
          <a:xfrm>
            <a:off x="4297680" y="3154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10万円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3931920"/>
            <a:ext cx="50292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合計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700〜1,000万円</a:t>
            </a:r>
            <a:endParaRPr lang="en-US" sz="22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760720" y="109728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収支モデル（月次・標準）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097280"/>
            <a:ext cx="260604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稼働日数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85800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日/月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09728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097280"/>
            <a:ext cx="2606040" cy="45720"/>
          </a:xfrm>
          <a:prstGeom prst="rect">
            <a:avLst/>
          </a:prstGeom>
          <a:solidFill>
            <a:srgbClr val="0F9B74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平均単価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5204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520440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円/日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109728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097280"/>
            <a:ext cx="26060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月商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35508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約18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355080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万円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2514600"/>
            <a:ext cx="5029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152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月次損益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月商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920240" y="3026664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F1F3F5"/>
          </a:solidFill>
          <a:ln/>
        </p:spPr>
      </p:sp>
      <p:sp>
        <p:nvSpPr>
          <p:cNvPr id="26" name="Shape 23"/>
          <p:cNvSpPr/>
          <p:nvPr/>
        </p:nvSpPr>
        <p:spPr>
          <a:xfrm>
            <a:off x="1920240" y="3026664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16C79A"/>
          </a:solidFill>
          <a:ln/>
        </p:spPr>
      </p:sp>
      <p:sp>
        <p:nvSpPr>
          <p:cNvPr id="27" name="Text 24"/>
          <p:cNvSpPr/>
          <p:nvPr/>
        </p:nvSpPr>
        <p:spPr>
          <a:xfrm>
            <a:off x="402336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約18万円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920240" y="3392424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F1F3F5"/>
          </a:solidFill>
          <a:ln/>
        </p:spPr>
      </p:sp>
      <p:sp>
        <p:nvSpPr>
          <p:cNvPr id="30" name="Shape 27"/>
          <p:cNvSpPr/>
          <p:nvPr/>
        </p:nvSpPr>
        <p:spPr>
          <a:xfrm>
            <a:off x="1920240" y="3392424"/>
            <a:ext cx="1448410" cy="164592"/>
          </a:xfrm>
          <a:prstGeom prst="roundRect">
            <a:avLst>
              <a:gd name="adj" fmla="val 22222"/>
            </a:avLst>
          </a:prstGeom>
          <a:solidFill>
            <a:srgbClr val="ADB5BD"/>
          </a:solidFill>
          <a:ln/>
        </p:spPr>
      </p:sp>
      <p:sp>
        <p:nvSpPr>
          <p:cNvPr id="31" name="Text 28"/>
          <p:cNvSpPr/>
          <p:nvPr/>
        </p:nvSpPr>
        <p:spPr>
          <a:xfrm>
            <a:off x="402336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10〜14万円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315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変動費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920240" y="3758184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F1F3F5"/>
          </a:solidFill>
          <a:ln/>
        </p:spPr>
      </p:sp>
      <p:sp>
        <p:nvSpPr>
          <p:cNvPr id="34" name="Shape 31"/>
          <p:cNvSpPr/>
          <p:nvPr/>
        </p:nvSpPr>
        <p:spPr>
          <a:xfrm>
            <a:off x="1920240" y="3758184"/>
            <a:ext cx="221285" cy="164592"/>
          </a:xfrm>
          <a:prstGeom prst="roundRect">
            <a:avLst>
              <a:gd name="adj" fmla="val 22222"/>
            </a:avLst>
          </a:prstGeom>
          <a:solidFill>
            <a:srgbClr val="CED4DA"/>
          </a:solidFill>
          <a:ln/>
        </p:spPr>
      </p:sp>
      <p:sp>
        <p:nvSpPr>
          <p:cNvPr id="35" name="Text 32"/>
          <p:cNvSpPr/>
          <p:nvPr/>
        </p:nvSpPr>
        <p:spPr>
          <a:xfrm>
            <a:off x="40233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2万円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315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月間利益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920240" y="4123944"/>
            <a:ext cx="2011680" cy="164592"/>
          </a:xfrm>
          <a:prstGeom prst="roundRect">
            <a:avLst>
              <a:gd name="adj" fmla="val 22222"/>
            </a:avLst>
          </a:prstGeom>
          <a:solidFill>
            <a:srgbClr val="F1F3F5"/>
          </a:solidFill>
          <a:ln/>
        </p:spPr>
      </p:sp>
      <p:sp>
        <p:nvSpPr>
          <p:cNvPr id="38" name="Shape 35"/>
          <p:cNvSpPr/>
          <p:nvPr/>
        </p:nvSpPr>
        <p:spPr>
          <a:xfrm>
            <a:off x="1920240" y="4123944"/>
            <a:ext cx="442570" cy="164592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/>
        </p:spPr>
      </p:sp>
      <p:sp>
        <p:nvSpPr>
          <p:cNvPr id="39" name="Text 36"/>
          <p:cNvSpPr/>
          <p:nvPr/>
        </p:nvSpPr>
        <p:spPr>
          <a:xfrm>
            <a:off x="40233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2〜5万円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52160" y="2514600"/>
            <a:ext cx="2743200" cy="1965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8"/>
          <p:cNvSpPr/>
          <p:nvPr/>
        </p:nvSpPr>
        <p:spPr>
          <a:xfrm>
            <a:off x="6035040" y="2697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0350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月間利益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03504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2〜5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0350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万円 / 月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03504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副業として安定した副収入を確保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FA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931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92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RISK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728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10-11. 資金調達計画 / リスクと対策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97280"/>
            <a:ext cx="3931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097280"/>
            <a:ext cx="3931920" cy="4572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資金調達計画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3566160" cy="777240"/>
          </a:xfrm>
          <a:prstGeom prst="rect">
            <a:avLst/>
          </a:prstGeom>
          <a:solidFill>
            <a:srgbClr val="E6FA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9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自己資金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3716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200万円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31520" y="2651760"/>
            <a:ext cx="3566160" cy="777240"/>
          </a:xfrm>
          <a:prstGeom prst="rect">
            <a:avLst/>
          </a:prstGeom>
          <a:solidFill>
            <a:srgbClr val="E6FAF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724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9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借入希望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3716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800〜1,000万円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借入用途：車両購入・運転資金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31520" y="4023360"/>
            <a:ext cx="713232" cy="18288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0" name="Shape 15"/>
          <p:cNvSpPr/>
          <p:nvPr/>
        </p:nvSpPr>
        <p:spPr>
          <a:xfrm>
            <a:off x="1444752" y="4023360"/>
            <a:ext cx="2852928" cy="182880"/>
          </a:xfrm>
          <a:prstGeom prst="rect">
            <a:avLst/>
          </a:prstGeom>
          <a:solidFill>
            <a:srgbClr val="0F9B74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402336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444752" y="402336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4754880" y="1097280"/>
            <a:ext cx="38404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1097280"/>
            <a:ext cx="3840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0"/>
          <p:cNvSpPr/>
          <p:nvPr/>
        </p:nvSpPr>
        <p:spPr>
          <a:xfrm>
            <a:off x="49377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リスクと対策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09928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12080" y="1673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稼働率低下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212080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副業スタートで固定費抑制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937760" y="2221992"/>
            <a:ext cx="338328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350008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事故・故障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21208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任意保険加入・定期点検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937760" y="2862072"/>
            <a:ext cx="338328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990088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12080" y="2953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価格競争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21208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レジャー特化・品質訴求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937760" y="3502152"/>
            <a:ext cx="338328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630168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12080" y="3593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資金繰り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5212080" y="3840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慎重な台数拡大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457200" y="4823460"/>
            <a:ext cx="8229600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73752"/>
            <a:ext cx="164592" cy="16459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AIレンタカー｜事業計画書</a:t>
            </a:r>
            <a:endParaRPr lang="en-US" sz="700" dirty="0"/>
          </a:p>
        </p:txBody>
      </p:sp>
      <p:sp>
        <p:nvSpPr>
          <p:cNvPr id="45" name="Text 35"/>
          <p:cNvSpPr/>
          <p:nvPr/>
        </p:nvSpPr>
        <p:spPr>
          <a:xfrm>
            <a:off x="8046720" y="48463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 成長ロードマップ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25400">
            <a:solidFill>
              <a:srgbClr val="16C7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74520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659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1年目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安定運営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1台で安定運営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稼働率向上に注力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0480" y="1874520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9659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2〜3年目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3832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事業拡大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2台目導入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売上基盤の拡大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16C7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659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1264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× キャンピングカー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03504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キャンピングカー特化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AI活用で高効率運営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レンタカー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0972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個人の挑戦から、新しいモビリティ体験を。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16C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AIレンタカー｜事業計画書</dc:title>
  <dc:subject>PptxGenJS Presentation</dc:subject>
  <dc:creator>AIレンタカー</dc:creator>
  <cp:lastModifiedBy>AIレンタカー</cp:lastModifiedBy>
  <cp:revision>1</cp:revision>
  <dcterms:created xsi:type="dcterms:W3CDTF">2026-02-09T13:34:42Z</dcterms:created>
  <dcterms:modified xsi:type="dcterms:W3CDTF">2026-02-09T13:34:42Z</dcterms:modified>
</cp:coreProperties>
</file>