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車両・設備</c:v>
                </c:pt>
                <c:pt idx="1">
                  <c:v>登録・広告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200400"/>
            <a:ext cx="2011680" cy="2011680"/>
          </a:xfrm>
          <a:prstGeom prst="ellipse">
            <a:avLst/>
          </a:prstGeom>
          <a:solidFill>
            <a:srgbClr val="F97316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23360" y="73152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PLAN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AIレンタカー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事業計画書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06240" y="347472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AI活用で実現する次世代レンタカー事業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29768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4297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/ 02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29768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4297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千葉県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554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430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20240" y="1572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202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事業概要・提供価値・ターゲット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83480" y="1554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834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1572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&amp; SERVICE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6072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市場環境・サービス・集客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143000" y="28346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1430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920240" y="2852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FINANCE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92024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オペレーション・投資・収支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983480" y="28346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98348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60720" y="2852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STRATEGY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607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資金調達・リスク・成長戦略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-457200"/>
            <a:ext cx="2011680" cy="20116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1645920" cy="164592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31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事業概要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AIレンタカー事業の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全体像をご紹介します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Overview  |  提供価値  |  ターゲット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2984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2976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個人事業主による副業スタート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9768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普通自動車のレンタカー事業（日貸・時間貸）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957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2976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千葉県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29768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首都圏・房総エリアへのアクセス拠点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566160" y="338328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4930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0" y="3337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VISION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2976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AI活用による高稼働運営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9768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需要予測・価格最適化・予約最適化で競合と差別化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事業概要・提供価値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402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事業概要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43000" y="178308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6596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事業名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69164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AIレンタカー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032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事業形態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69164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個人事業主（副業スタート）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5468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事業内容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69164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普通自動車のレンタカー事業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（日貸・時間貸）</a:t>
            </a:r>
            <a:endParaRPr lang="en-US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74904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91640" y="3703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開業予定地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69164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千葉県（首都圏・房総エリア）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4800600" y="1371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28" name="Text 21"/>
          <p:cNvSpPr/>
          <p:nvPr/>
        </p:nvSpPr>
        <p:spPr>
          <a:xfrm>
            <a:off x="480060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6692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提供価値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800600" y="17830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37760" y="1856232"/>
            <a:ext cx="402336" cy="402336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92024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レジャー最適化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40680" y="20391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週末利用に特化した車両ラインナップ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800600" y="24231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937760" y="2496312"/>
            <a:ext cx="402336" cy="402336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560320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4068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高品質な車両管理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440680" y="26791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清潔・高品質な車両を常に提供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4800600" y="30632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937760" y="3136392"/>
            <a:ext cx="402336" cy="402336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200400"/>
            <a:ext cx="201168" cy="20116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44068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柔軟な対応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440680" y="3319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個人運営ならではの柔軟な受渡・対応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4800600" y="370332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937760" y="3776472"/>
            <a:ext cx="402336" cy="402336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840480"/>
            <a:ext cx="201168" cy="20116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4406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AI活用運営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440680" y="3959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需要予測・価格最適化・予約最適化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CUSTOMER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ターゲット顧客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2194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43000" y="141732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1325880" y="169164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013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首都圏の個人・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ファミリー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2880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首都圏在住でマイカーを持たない層。週末や連休にレジャーで車が必要な個人・家族。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280160" y="38404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97764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3977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Target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611880" y="1417320"/>
            <a:ext cx="2194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11880" y="1417320"/>
            <a:ext cx="21945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17"/>
          <p:cNvSpPr/>
          <p:nvPr/>
        </p:nvSpPr>
        <p:spPr>
          <a:xfrm>
            <a:off x="3794760" y="169164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80136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4904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アウトドア・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観光利用者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749040" y="2880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週末・連休に房総エリアでの観光やアウトドアを楽しむアクティブ層。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749040" y="38404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77640"/>
            <a:ext cx="137160" cy="1371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95928" y="3977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Target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6080760" y="1417320"/>
            <a:ext cx="2194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80760" y="1417320"/>
            <a:ext cx="21945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Shape 24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136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1792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法人・長期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レンタル需要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17920" y="2880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将来的には法人利用や長期レンタル需要にも対応し、安定収益を確保する。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217920" y="38404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977640"/>
            <a:ext cx="137160" cy="1371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64808" y="3977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Target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-457200"/>
            <a:ext cx="2011680" cy="20116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1645920" cy="164592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31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市場環境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レンタカー市場の動向と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当社のサービス設計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市場分析  |  サービス  |  集客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2984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2976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市場・競合環境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9768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観光回復とアウトドア需要の拡大で安定成長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957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2976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サービス内容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29768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レジャー特化プランとオプションサービス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566160" y="338328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4930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0" y="3337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2976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集客・販売チャネル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9768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Web・SNS・口コミによるマルチチャネル展開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市場・競合環境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3246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50876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1508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28016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66420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1554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市場動向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74520" y="17556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Trend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05740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観光回復による需要増加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258568"/>
            <a:ext cx="137160" cy="1371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2258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アウトドアブームの継続</a:t>
            </a:r>
            <a:endParaRPr lang="en-US" sz="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459736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2459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レンタカー市場は安定成長基調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663440" y="1417320"/>
            <a:ext cx="3246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040880" y="150876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/>
        </p:spPr>
      </p:sp>
      <p:sp>
        <p:nvSpPr>
          <p:cNvPr id="26" name="Text 19"/>
          <p:cNvSpPr/>
          <p:nvPr/>
        </p:nvSpPr>
        <p:spPr>
          <a:xfrm>
            <a:off x="7040880" y="1508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</a:t>
            </a:r>
            <a:endParaRPr lang="en-US" sz="700" dirty="0"/>
          </a:p>
        </p:txBody>
      </p:sp>
      <p:sp>
        <p:nvSpPr>
          <p:cNvPr id="27" name="Shape 20"/>
          <p:cNvSpPr/>
          <p:nvPr/>
        </p:nvSpPr>
        <p:spPr>
          <a:xfrm>
            <a:off x="480060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66420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94960" y="1554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大手レンタカー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394960" y="17556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Players</a:t>
            </a:r>
            <a:endParaRPr lang="en-US" sz="7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057400"/>
            <a:ext cx="137160" cy="1371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074920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画一的なサービス</a:t>
            </a:r>
            <a:endParaRPr lang="en-US" sz="8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258568"/>
            <a:ext cx="137160" cy="1371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74920" y="2258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高価格設定</a:t>
            </a:r>
            <a:endParaRPr lang="en-US" sz="8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459736"/>
            <a:ext cx="137160" cy="1371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074920" y="2459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柔軟性に欠ける対応</a:t>
            </a:r>
            <a:endParaRPr lang="en-US" sz="800" dirty="0"/>
          </a:p>
        </p:txBody>
      </p:sp>
      <p:sp>
        <p:nvSpPr>
          <p:cNvPr id="37" name="Shape 26"/>
          <p:cNvSpPr/>
          <p:nvPr/>
        </p:nvSpPr>
        <p:spPr>
          <a:xfrm>
            <a:off x="1143000" y="2971800"/>
            <a:ext cx="3246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3520440" y="306324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EFCE8"/>
          </a:solidFill>
          <a:ln/>
        </p:spPr>
      </p:sp>
      <p:sp>
        <p:nvSpPr>
          <p:cNvPr id="39" name="Text 28"/>
          <p:cNvSpPr/>
          <p:nvPr/>
        </p:nvSpPr>
        <p:spPr>
          <a:xfrm>
            <a:off x="3520440" y="3063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A8A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</a:t>
            </a:r>
            <a:endParaRPr lang="en-US" sz="700" dirty="0"/>
          </a:p>
        </p:txBody>
      </p:sp>
      <p:sp>
        <p:nvSpPr>
          <p:cNvPr id="40" name="Shape 29"/>
          <p:cNvSpPr/>
          <p:nvPr/>
        </p:nvSpPr>
        <p:spPr>
          <a:xfrm>
            <a:off x="128016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FCE8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9888" y="3218688"/>
            <a:ext cx="228600" cy="2286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87452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地場中小レンタカー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1874520" y="33101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Players</a:t>
            </a:r>
            <a:endParaRPr lang="en-US" sz="7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80" y="3611880"/>
            <a:ext cx="137160" cy="13716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554480" y="36118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品質にばらつきがある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5880" y="3813048"/>
            <a:ext cx="137160" cy="13716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554480" y="38130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デジタル化の遅れ</a:t>
            </a:r>
            <a:endParaRPr lang="en-US" sz="8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5880" y="4014216"/>
            <a:ext cx="137160" cy="13716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554480" y="40142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集客力が弱い</a:t>
            </a:r>
            <a:endParaRPr lang="en-US" sz="800" dirty="0"/>
          </a:p>
        </p:txBody>
      </p:sp>
      <p:sp>
        <p:nvSpPr>
          <p:cNvPr id="50" name="Shape 35"/>
          <p:cNvSpPr/>
          <p:nvPr/>
        </p:nvSpPr>
        <p:spPr>
          <a:xfrm>
            <a:off x="4663440" y="2971800"/>
            <a:ext cx="3246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36"/>
          <p:cNvSpPr/>
          <p:nvPr/>
        </p:nvSpPr>
        <p:spPr>
          <a:xfrm>
            <a:off x="7040880" y="306324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52" name="Text 37"/>
          <p:cNvSpPr/>
          <p:nvPr/>
        </p:nvSpPr>
        <p:spPr>
          <a:xfrm>
            <a:off x="7040880" y="3063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差別化</a:t>
            </a:r>
            <a:endParaRPr lang="en-US" sz="700" dirty="0"/>
          </a:p>
        </p:txBody>
      </p:sp>
      <p:sp>
        <p:nvSpPr>
          <p:cNvPr id="53" name="Shape 38"/>
          <p:cNvSpPr/>
          <p:nvPr/>
        </p:nvSpPr>
        <p:spPr>
          <a:xfrm>
            <a:off x="480060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8" y="3218688"/>
            <a:ext cx="228600" cy="22860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539496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AIレンタカーの強み</a:t>
            </a:r>
            <a:endParaRPr lang="en-US" sz="1000" dirty="0"/>
          </a:p>
        </p:txBody>
      </p:sp>
      <p:sp>
        <p:nvSpPr>
          <p:cNvPr id="56" name="Text 40"/>
          <p:cNvSpPr/>
          <p:nvPr/>
        </p:nvSpPr>
        <p:spPr>
          <a:xfrm>
            <a:off x="5394960" y="33101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Advantage</a:t>
            </a:r>
            <a:endParaRPr lang="en-US" sz="70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3611880"/>
            <a:ext cx="137160" cy="13716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5074920" y="36118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用途特化（レジャー・アウトドア）</a:t>
            </a:r>
            <a:endParaRPr lang="en-US" sz="80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3813048"/>
            <a:ext cx="137160" cy="137160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5074920" y="38130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品質重視の車両管理</a:t>
            </a:r>
            <a:endParaRPr lang="en-US" sz="80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46320" y="4014216"/>
            <a:ext cx="137160" cy="137160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5074920" y="40142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柔軟運営 + AI活用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DETAILS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サービス内容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25880" y="1527048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20240" y="1490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レンタカー（日貸・時間貸）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20240" y="1709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普通自動車の日貸・時間貸サービス。利用者のニーズに合わせた柔軟な貸出期間を提供します。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223760" y="1581912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15819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メイン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143000" y="2167128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325880" y="2276856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132588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920240" y="2240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週末・連休向けプラン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920240" y="2459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レジャー需要にフォーカスした週末・連休パッケージプラン。お得な料金設定で稼働率を向上。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223760" y="233172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メイン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43000" y="2916936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325880" y="3026664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13258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920240" y="2990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オプションサービス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920240" y="3209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チャイルドシート、ETC車載器、アウトドア用品などのオプション。ファミリー層やアウトドア利用者の利便性を高めます。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223760" y="3081528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7223760" y="3081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付加価値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1143000" y="3666744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325880" y="3776472"/>
            <a:ext cx="411480" cy="4114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1"/>
          <p:cNvSpPr/>
          <p:nvPr/>
        </p:nvSpPr>
        <p:spPr>
          <a:xfrm>
            <a:off x="132588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920240" y="3739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将来構想：キャンピングカー・法人契約・長期レンタル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920240" y="3959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事業拡大フェーズではキャンピングカー特化、法人向け契約、長期レンタルサービスを展開し収益の多角化を図ります。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223760" y="3831336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/>
        </p:spPr>
      </p:sp>
      <p:sp>
        <p:nvSpPr>
          <p:cNvPr id="38" name="Text 35"/>
          <p:cNvSpPr/>
          <p:nvPr/>
        </p:nvSpPr>
        <p:spPr>
          <a:xfrm>
            <a:off x="7223760" y="38313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CHANNEL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集客・販売チャネル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1645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43000" y="1417320"/>
            <a:ext cx="1645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755648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03120" y="16916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2103120" y="1691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Ch.1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2344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自社Webサイト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23444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予約・問い合わせの中心チャネル。SEO対策で検索流入を獲得。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1234440" y="3749040"/>
            <a:ext cx="14630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3444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予約・問い合わせ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65176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017520" y="1417320"/>
            <a:ext cx="1645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017520" y="1417320"/>
            <a:ext cx="1645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19"/>
          <p:cNvSpPr/>
          <p:nvPr/>
        </p:nvSpPr>
        <p:spPr>
          <a:xfrm>
            <a:off x="3154680" y="16459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55648"/>
            <a:ext cx="228600" cy="2286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977640" y="16916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7" name="Text 21"/>
          <p:cNvSpPr/>
          <p:nvPr/>
        </p:nvSpPr>
        <p:spPr>
          <a:xfrm>
            <a:off x="3977640" y="1691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Ch.2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31089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比較サイト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10896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レンタカー比較サイトへの掲載で新規顧客のリーチを拡大。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3108960" y="3749040"/>
            <a:ext cx="14630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10896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新規獲得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651760"/>
            <a:ext cx="182880" cy="18288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892040" y="1417320"/>
            <a:ext cx="1645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92040" y="141732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Shape 28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1755648"/>
            <a:ext cx="228600" cy="22860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852160" y="16916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38" name="Text 30"/>
          <p:cNvSpPr/>
          <p:nvPr/>
        </p:nvSpPr>
        <p:spPr>
          <a:xfrm>
            <a:off x="5852160" y="1691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Ch.3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498348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マップ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98348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Googleマップ・口コミで地域の信頼性を構築。近隣顧客を獲得。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983480" y="3749040"/>
            <a:ext cx="14630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98348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信頼構築</a:t>
            </a:r>
            <a:endParaRPr lang="en-US" sz="9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651760"/>
            <a:ext cx="182880" cy="18288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6766560" y="1417320"/>
            <a:ext cx="1645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766560" y="141732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6" name="Shape 37"/>
          <p:cNvSpPr/>
          <p:nvPr/>
        </p:nvSpPr>
        <p:spPr>
          <a:xfrm>
            <a:off x="6903720" y="1645920"/>
            <a:ext cx="457200" cy="45720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1755648"/>
            <a:ext cx="228600" cy="228600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7726680" y="16916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49" name="Text 39"/>
          <p:cNvSpPr/>
          <p:nvPr/>
        </p:nvSpPr>
        <p:spPr>
          <a:xfrm>
            <a:off x="7726680" y="1691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Ch.4</a:t>
            </a:r>
            <a:endParaRPr lang="en-US" sz="700" dirty="0"/>
          </a:p>
        </p:txBody>
      </p:sp>
      <p:sp>
        <p:nvSpPr>
          <p:cNvPr id="50" name="Text 40"/>
          <p:cNvSpPr/>
          <p:nvPr/>
        </p:nvSpPr>
        <p:spPr>
          <a:xfrm>
            <a:off x="68580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5800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Instagram等のSNSで車両・レジャー情報を発信。ブランド認知を向上。</a:t>
            </a:r>
            <a:endParaRPr lang="en-US" sz="800" dirty="0"/>
          </a:p>
        </p:txBody>
      </p:sp>
      <p:sp>
        <p:nvSpPr>
          <p:cNvPr id="52" name="Shape 42"/>
          <p:cNvSpPr/>
          <p:nvPr/>
        </p:nvSpPr>
        <p:spPr>
          <a:xfrm>
            <a:off x="6858000" y="3749040"/>
            <a:ext cx="14630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685800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ブランド認知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-457200"/>
            <a:ext cx="2011680" cy="201168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1645920" cy="164592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31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財務計画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運営体制・初期投資・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収支モデルについて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運営体制  |  初期投資  |  収支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2984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2976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オペレーション体制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9768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代表者1名による効率的な運営設計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957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2976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初期投資計画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29768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700〜1,000万円の初期投資内訳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566160" y="338328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4930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0" y="3337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2976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月次収支モデル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9768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月商約18万円の収支シミュレーション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オペレーション体制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6858000" cy="777240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4630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8016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運営体制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代表者 1名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06040" y="1691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受付・車両管理・清掃・事務を兼任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8600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43000" y="2560320"/>
            <a:ext cx="6858000" cy="8229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280160" y="26060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1280160" y="2743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日常業務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286000" y="265176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6974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受付対応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703320" y="265176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697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0332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車両管理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5120640" y="265176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6974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2064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清掃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6537960" y="265176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69748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3796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事務処理</a:t>
            </a:r>
            <a:endParaRPr lang="en-US" sz="8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3474720"/>
            <a:ext cx="182880" cy="18288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1143000" y="3749040"/>
            <a:ext cx="685800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1280160" y="37947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</a:t>
            </a:r>
            <a:endParaRPr lang="en-US" sz="700" dirty="0"/>
          </a:p>
        </p:txBody>
      </p:sp>
      <p:sp>
        <p:nvSpPr>
          <p:cNvPr id="36" name="Text 26"/>
          <p:cNvSpPr/>
          <p:nvPr/>
        </p:nvSpPr>
        <p:spPr>
          <a:xfrm>
            <a:off x="1280160" y="3931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繁忙期対応</a:t>
            </a:r>
            <a:endParaRPr lang="en-US" sz="10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7440" y="3886200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2697480" y="3840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外注活用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269748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清掃・点検業務の外部委託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88620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440680" y="3840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AI効率化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544068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予約最適化で業務負荷を軽減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INVESTMENT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初期投資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43000" y="1417320"/>
            <a:ext cx="36576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14630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8016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600-900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万円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240280" y="150876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車両購入（中古1台）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017520" y="14173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17520" y="1417320"/>
            <a:ext cx="36576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6"/>
          <p:cNvSpPr/>
          <p:nvPr/>
        </p:nvSpPr>
        <p:spPr>
          <a:xfrm>
            <a:off x="3154680" y="14630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15468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万円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114800" y="1508760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0020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15468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登録・整備・保険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892040" y="14173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92040" y="1417320"/>
            <a:ext cx="36576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2"/>
          <p:cNvSpPr/>
          <p:nvPr/>
        </p:nvSpPr>
        <p:spPr>
          <a:xfrm>
            <a:off x="5029200" y="14630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502920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万円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5989320" y="150876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00200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2920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設備・備品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766560" y="14173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766560" y="1417320"/>
            <a:ext cx="36576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28"/>
          <p:cNvSpPr/>
          <p:nvPr/>
        </p:nvSpPr>
        <p:spPr>
          <a:xfrm>
            <a:off x="6903720" y="14630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690372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万円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863840" y="1508760"/>
            <a:ext cx="365760" cy="3657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600200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0372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Web・広告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1143000" y="2743200"/>
            <a:ext cx="3246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1325880" y="2834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BREAKDOWN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1325880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車両購入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2148840" y="3172968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Shape 36"/>
          <p:cNvSpPr/>
          <p:nvPr/>
        </p:nvSpPr>
        <p:spPr>
          <a:xfrm>
            <a:off x="2148840" y="3172968"/>
            <a:ext cx="1709928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Text 37"/>
          <p:cNvSpPr/>
          <p:nvPr/>
        </p:nvSpPr>
        <p:spPr>
          <a:xfrm>
            <a:off x="2148840" y="3154680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600-900万</a:t>
            </a:r>
            <a:endParaRPr lang="en-US" sz="600" dirty="0"/>
          </a:p>
        </p:txBody>
      </p:sp>
      <p:sp>
        <p:nvSpPr>
          <p:cNvPr id="45" name="Text 38"/>
          <p:cNvSpPr/>
          <p:nvPr/>
        </p:nvSpPr>
        <p:spPr>
          <a:xfrm>
            <a:off x="1325880" y="34564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登録・保険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2148840" y="3474720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Shape 40"/>
          <p:cNvSpPr/>
          <p:nvPr/>
        </p:nvSpPr>
        <p:spPr>
          <a:xfrm>
            <a:off x="2148840" y="3474720"/>
            <a:ext cx="30175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Text 41"/>
          <p:cNvSpPr/>
          <p:nvPr/>
        </p:nvSpPr>
        <p:spPr>
          <a:xfrm>
            <a:off x="2148840" y="3456432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50万</a:t>
            </a:r>
            <a:endParaRPr lang="en-US" sz="600" dirty="0"/>
          </a:p>
        </p:txBody>
      </p:sp>
      <p:sp>
        <p:nvSpPr>
          <p:cNvPr id="49" name="Text 42"/>
          <p:cNvSpPr/>
          <p:nvPr/>
        </p:nvSpPr>
        <p:spPr>
          <a:xfrm>
            <a:off x="1325880" y="3758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設備・備品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2148840" y="3776472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1" name="Shape 44"/>
          <p:cNvSpPr/>
          <p:nvPr/>
        </p:nvSpPr>
        <p:spPr>
          <a:xfrm>
            <a:off x="2148840" y="3776472"/>
            <a:ext cx="160934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45"/>
          <p:cNvSpPr/>
          <p:nvPr/>
        </p:nvSpPr>
        <p:spPr>
          <a:xfrm>
            <a:off x="2148840" y="3758184"/>
            <a:ext cx="160934" cy="182880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20万</a:t>
            </a:r>
            <a:endParaRPr lang="en-US" sz="600" dirty="0"/>
          </a:p>
        </p:txBody>
      </p:sp>
      <p:sp>
        <p:nvSpPr>
          <p:cNvPr id="53" name="Text 46"/>
          <p:cNvSpPr/>
          <p:nvPr/>
        </p:nvSpPr>
        <p:spPr>
          <a:xfrm>
            <a:off x="1325880" y="4059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Web・広告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2148840" y="4078224"/>
            <a:ext cx="2011680" cy="16459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5" name="Shape 48"/>
          <p:cNvSpPr/>
          <p:nvPr/>
        </p:nvSpPr>
        <p:spPr>
          <a:xfrm>
            <a:off x="2148840" y="4078224"/>
            <a:ext cx="100584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6" name="Text 49"/>
          <p:cNvSpPr/>
          <p:nvPr/>
        </p:nvSpPr>
        <p:spPr>
          <a:xfrm>
            <a:off x="2148840" y="4059936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10万</a:t>
            </a:r>
            <a:endParaRPr lang="en-US" sz="600" dirty="0"/>
          </a:p>
        </p:txBody>
      </p:sp>
      <p:sp>
        <p:nvSpPr>
          <p:cNvPr id="57" name="Shape 50"/>
          <p:cNvSpPr/>
          <p:nvPr/>
        </p:nvSpPr>
        <p:spPr>
          <a:xfrm>
            <a:off x="4754880" y="2743200"/>
            <a:ext cx="3246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Text 51"/>
          <p:cNvSpPr/>
          <p:nvPr/>
        </p:nvSpPr>
        <p:spPr>
          <a:xfrm>
            <a:off x="4937760" y="2834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INVESTMENT</a:t>
            </a:r>
            <a:endParaRPr lang="en-US" sz="800" dirty="0"/>
          </a:p>
        </p:txBody>
      </p:sp>
      <p:graphicFrame>
        <p:nvGraphicFramePr>
          <p:cNvPr id="59" name="Chart 0" descr=""/>
          <p:cNvGraphicFramePr/>
          <p:nvPr/>
        </p:nvGraphicFramePr>
        <p:xfrm>
          <a:off x="5120640" y="3017520"/>
          <a:ext cx="16459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60" name="Text 52"/>
          <p:cNvSpPr/>
          <p:nvPr/>
        </p:nvSpPr>
        <p:spPr>
          <a:xfrm>
            <a:off x="5440680" y="3337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
</a:t>
            </a:r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700-1,000
</a:t>
            </a:r>
            <a:endParaRPr lang="en-US" sz="7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万円</a:t>
            </a:r>
            <a:endParaRPr lang="en-US" sz="700" dirty="0"/>
          </a:p>
        </p:txBody>
      </p:sp>
      <p:sp>
        <p:nvSpPr>
          <p:cNvPr id="61" name="Shape 53"/>
          <p:cNvSpPr/>
          <p:nvPr/>
        </p:nvSpPr>
        <p:spPr>
          <a:xfrm>
            <a:off x="6949440" y="3474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2" name="Text 54"/>
          <p:cNvSpPr/>
          <p:nvPr/>
        </p:nvSpPr>
        <p:spPr>
          <a:xfrm>
            <a:off x="7132320" y="34747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車両・設備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6949440" y="370332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4" name="Text 56"/>
          <p:cNvSpPr/>
          <p:nvPr/>
        </p:nvSpPr>
        <p:spPr>
          <a:xfrm>
            <a:off x="7132320" y="37033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登録・広告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収支モデル（月次・標準）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28016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項目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数値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単位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備考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稼働日数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 / 月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週末+祝日中心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平均単価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円 / 日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日貸ベース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月商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180,000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円 / 月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12日 x 15,000円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固定費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100,000-140,000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円 / 月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保険・駐車場・ローン等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変動費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20,000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円 / 月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ガソリン・消耗品等</a:t>
                      </a:r>
                      <a:endParaRPr lang="en-US" sz="8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143000" y="374904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143000" y="37490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1325880" y="37947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3258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¥180,000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24612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</a:rPr>
              <a:t>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657600" y="3749040"/>
            <a:ext cx="2194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0" y="3749040"/>
            <a:ext cx="54864" cy="640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5"/>
          <p:cNvSpPr/>
          <p:nvPr/>
        </p:nvSpPr>
        <p:spPr>
          <a:xfrm>
            <a:off x="3840480" y="37947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8404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¥120,000-160,000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94360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</a:rPr>
              <a:t>＝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355080" y="3749040"/>
            <a:ext cx="1645920" cy="6400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374904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0"/>
          <p:cNvSpPr/>
          <p:nvPr/>
        </p:nvSpPr>
        <p:spPr>
          <a:xfrm>
            <a:off x="6537960" y="37947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653796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¥20,000-50,000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-457200"/>
            <a:ext cx="2011680" cy="201168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1645920" cy="164592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31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804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成長戦略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資金調達・リスク管理・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中長期的な成長計画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  |  リスク  |  ロードマップ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2984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2976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資金調達計画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29768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自己資金200万円 + 借入800〜1,000万円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957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MANAGEMENT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2976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リスクと対策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29768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稼働率・事故・価格競争・資金繰りへの対策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566160" y="3383280"/>
            <a:ext cx="548640" cy="54864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4930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0" y="3337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2976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成長ロードマップ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9768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1台 → 2台 → キャンピングカー特化・AI活用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資金調達計画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3716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 FUND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240280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自己資金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43000" y="1737360"/>
            <a:ext cx="3200400" cy="16459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7160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02996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万円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0604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初期資金として準備済み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880360"/>
            <a:ext cx="137160" cy="1371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副業収入からの積立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00600" y="13716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23" name="Text 17"/>
          <p:cNvSpPr/>
          <p:nvPr/>
        </p:nvSpPr>
        <p:spPr>
          <a:xfrm>
            <a:off x="4800600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BORROWING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5989320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借入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800600" y="1737360"/>
            <a:ext cx="3200400" cy="16459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2920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20299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800-1,000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万円</a:t>
            </a:r>
            <a:endParaRPr lang="en-US" sz="2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606040"/>
            <a:ext cx="137160" cy="1371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0352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車両購入資金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880360"/>
            <a:ext cx="137160" cy="1371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03520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運転資金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143000" y="3657600"/>
            <a:ext cx="6858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25"/>
          <p:cNvSpPr/>
          <p:nvPr/>
        </p:nvSpPr>
        <p:spPr>
          <a:xfrm>
            <a:off x="1371600" y="3749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FUNDING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1371600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資金調達総額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2926080" y="3749040"/>
            <a:ext cx="0" cy="59436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38328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1,000-1,200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万円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3383280" y="4069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調達総額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502920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17-20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%</a:t>
            </a:r>
            <a:endParaRPr lang="en-US" sz="1700" dirty="0"/>
          </a:p>
        </p:txBody>
      </p:sp>
      <p:sp>
        <p:nvSpPr>
          <p:cNvPr id="40" name="Text 31"/>
          <p:cNvSpPr/>
          <p:nvPr/>
        </p:nvSpPr>
        <p:spPr>
          <a:xfrm>
            <a:off x="5029200" y="4069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自己資金比率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667512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80-83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%</a:t>
            </a:r>
            <a:endParaRPr lang="en-US" sz="1700" dirty="0"/>
          </a:p>
        </p:txBody>
      </p:sp>
      <p:sp>
        <p:nvSpPr>
          <p:cNvPr id="42" name="Text 33"/>
          <p:cNvSpPr/>
          <p:nvPr/>
        </p:nvSpPr>
        <p:spPr>
          <a:xfrm>
            <a:off x="6675120" y="4069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借入比率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MANAGEMENT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リスクと対策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3000" y="1417320"/>
            <a:ext cx="3246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50876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EFCE8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1508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A8A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280160" y="1554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FCE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1527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稼働率低下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28800" y="17099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需要不足による低稼働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1252728" y="2057400"/>
            <a:ext cx="3017520" cy="45720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121408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103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軽減策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1344168" y="23042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副業スタートで固定費を抑制し、リスクを最小化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663440" y="1417320"/>
            <a:ext cx="3246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23760" y="150876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/>
        </p:spPr>
      </p:sp>
      <p:sp>
        <p:nvSpPr>
          <p:cNvPr id="24" name="Text 19"/>
          <p:cNvSpPr/>
          <p:nvPr/>
        </p:nvSpPr>
        <p:spPr>
          <a:xfrm>
            <a:off x="7223760" y="1508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4800600" y="1554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1527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事故・故障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349240" y="17099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車両損害・修理費用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4773168" y="2057400"/>
            <a:ext cx="3017520" cy="45720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121408"/>
            <a:ext cx="137160" cy="1371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74920" y="2103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軽減策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4864608" y="23042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任意保険加入・定期点検の徹底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143000" y="2834640"/>
            <a:ext cx="3246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703320" y="292608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EFCE8"/>
          </a:solidFill>
          <a:ln/>
        </p:spPr>
      </p:sp>
      <p:sp>
        <p:nvSpPr>
          <p:cNvPr id="35" name="Text 28"/>
          <p:cNvSpPr/>
          <p:nvPr/>
        </p:nvSpPr>
        <p:spPr>
          <a:xfrm>
            <a:off x="370332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A8A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1280160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06324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828800" y="2944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価格競争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828800" y="31272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大手との価格競争激化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1252728" y="3474720"/>
            <a:ext cx="3017520" cy="45720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168" y="3538728"/>
            <a:ext cx="137160" cy="1371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55448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軽減策</a:t>
            </a:r>
            <a:endParaRPr lang="en-US" sz="700" dirty="0"/>
          </a:p>
        </p:txBody>
      </p:sp>
      <p:sp>
        <p:nvSpPr>
          <p:cNvPr id="43" name="Text 34"/>
          <p:cNvSpPr/>
          <p:nvPr/>
        </p:nvSpPr>
        <p:spPr>
          <a:xfrm>
            <a:off x="1344168" y="37216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レジャー特化・品質訴求で差別化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663440" y="2834640"/>
            <a:ext cx="3246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7223760" y="292608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</p:sp>
      <p:sp>
        <p:nvSpPr>
          <p:cNvPr id="46" name="Text 37"/>
          <p:cNvSpPr/>
          <p:nvPr/>
        </p:nvSpPr>
        <p:spPr>
          <a:xfrm>
            <a:off x="722376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</a:t>
            </a:r>
            <a:endParaRPr lang="en-US" sz="700" dirty="0"/>
          </a:p>
        </p:txBody>
      </p:sp>
      <p:sp>
        <p:nvSpPr>
          <p:cNvPr id="47" name="Shape 38"/>
          <p:cNvSpPr/>
          <p:nvPr/>
        </p:nvSpPr>
        <p:spPr>
          <a:xfrm>
            <a:off x="4800600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063240"/>
            <a:ext cx="228600" cy="2286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349240" y="2944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資金繰り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5349240" y="31272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キャッシュフロー悪化</a:t>
            </a:r>
            <a:endParaRPr lang="en-US" sz="700" dirty="0"/>
          </a:p>
        </p:txBody>
      </p:sp>
      <p:sp>
        <p:nvSpPr>
          <p:cNvPr id="51" name="Shape 41"/>
          <p:cNvSpPr/>
          <p:nvPr/>
        </p:nvSpPr>
        <p:spPr>
          <a:xfrm>
            <a:off x="4773168" y="3474720"/>
            <a:ext cx="3017520" cy="45720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3538728"/>
            <a:ext cx="137160" cy="13716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07492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軽減策</a:t>
            </a:r>
            <a:endParaRPr lang="en-US" sz="700" dirty="0"/>
          </a:p>
        </p:txBody>
      </p:sp>
      <p:sp>
        <p:nvSpPr>
          <p:cNvPr id="54" name="Text 43"/>
          <p:cNvSpPr/>
          <p:nvPr/>
        </p:nvSpPr>
        <p:spPr>
          <a:xfrm>
            <a:off x="4864608" y="37216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慎重な台数拡大で財務を安定化</a:t>
            </a: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1143000" y="4343400"/>
            <a:ext cx="6858000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0160" y="4389120"/>
            <a:ext cx="137160" cy="13716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508760" y="4370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総合リスク評価</a:t>
            </a:r>
            <a:endParaRPr lang="en-US" sz="800" dirty="0"/>
          </a:p>
        </p:txBody>
      </p:sp>
      <p:sp>
        <p:nvSpPr>
          <p:cNvPr id="58" name="Shape 46"/>
          <p:cNvSpPr/>
          <p:nvPr/>
        </p:nvSpPr>
        <p:spPr>
          <a:xfrm>
            <a:off x="6217920" y="441655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9" name="Text 47"/>
          <p:cNvSpPr/>
          <p:nvPr/>
        </p:nvSpPr>
        <p:spPr>
          <a:xfrm>
            <a:off x="6355080" y="4389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高: 1</a:t>
            </a:r>
            <a:endParaRPr lang="en-US" sz="700" dirty="0"/>
          </a:p>
        </p:txBody>
      </p:sp>
      <p:sp>
        <p:nvSpPr>
          <p:cNvPr id="60" name="Shape 48"/>
          <p:cNvSpPr/>
          <p:nvPr/>
        </p:nvSpPr>
        <p:spPr>
          <a:xfrm>
            <a:off x="6858000" y="4416552"/>
            <a:ext cx="91440" cy="914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61" name="Text 49"/>
          <p:cNvSpPr/>
          <p:nvPr/>
        </p:nvSpPr>
        <p:spPr>
          <a:xfrm>
            <a:off x="6995160" y="4389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中: 2</a:t>
            </a:r>
            <a:endParaRPr lang="en-US" sz="700" dirty="0"/>
          </a:p>
        </p:txBody>
      </p:sp>
      <p:sp>
        <p:nvSpPr>
          <p:cNvPr id="62" name="Shape 50"/>
          <p:cNvSpPr/>
          <p:nvPr/>
        </p:nvSpPr>
        <p:spPr>
          <a:xfrm>
            <a:off x="7498080" y="441655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3" name="Text 51"/>
          <p:cNvSpPr/>
          <p:nvPr/>
        </p:nvSpPr>
        <p:spPr>
          <a:xfrm>
            <a:off x="7635240" y="43891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低: 1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64008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804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成長ロードマップ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132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713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RENTAL CAR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685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371600" y="1691640"/>
            <a:ext cx="64008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146304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15819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5819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2-3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629400" y="1463040"/>
            <a:ext cx="457200" cy="457200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5819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1143000" y="2286000"/>
            <a:ext cx="21945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143000" y="228600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7"/>
          <p:cNvSpPr/>
          <p:nvPr/>
        </p:nvSpPr>
        <p:spPr>
          <a:xfrm>
            <a:off x="1280160" y="2468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2578608"/>
            <a:ext cx="228600" cy="228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874520" y="246888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</p:sp>
      <p:sp>
        <p:nvSpPr>
          <p:cNvPr id="26" name="Text 19"/>
          <p:cNvSpPr/>
          <p:nvPr/>
        </p:nvSpPr>
        <p:spPr>
          <a:xfrm>
            <a:off x="1874520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1874520" y="2697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1年目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128016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安定運営の確立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355848"/>
            <a:ext cx="118872" cy="1188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27048" y="333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1台で安定運営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584448"/>
            <a:ext cx="118872" cy="1188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527048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稼働率の向上</a:t>
            </a:r>
            <a:endParaRPr lang="en-US" sz="8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880" y="3813048"/>
            <a:ext cx="118872" cy="1188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527048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口コミ・リピーター獲得</a:t>
            </a:r>
            <a:endParaRPr lang="en-US" sz="8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" y="4041648"/>
            <a:ext cx="118872" cy="1188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527048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オペレーション最適化</a:t>
            </a:r>
            <a:endParaRPr lang="en-US" sz="800" dirty="0"/>
          </a:p>
        </p:txBody>
      </p:sp>
      <p:sp>
        <p:nvSpPr>
          <p:cNvPr id="37" name="Shape 26"/>
          <p:cNvSpPr/>
          <p:nvPr/>
        </p:nvSpPr>
        <p:spPr>
          <a:xfrm>
            <a:off x="1280160" y="42976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5880" y="4389120"/>
            <a:ext cx="137160" cy="13716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527048" y="43891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1台体制</a:t>
            </a:r>
            <a:endParaRPr lang="en-US" sz="700" dirty="0"/>
          </a:p>
        </p:txBody>
      </p:sp>
      <p:sp>
        <p:nvSpPr>
          <p:cNvPr id="40" name="Shape 28"/>
          <p:cNvSpPr/>
          <p:nvPr/>
        </p:nvSpPr>
        <p:spPr>
          <a:xfrm>
            <a:off x="3611880" y="2286000"/>
            <a:ext cx="21945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3611880" y="2286000"/>
            <a:ext cx="21945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Shape 30"/>
          <p:cNvSpPr/>
          <p:nvPr/>
        </p:nvSpPr>
        <p:spPr>
          <a:xfrm>
            <a:off x="3749040" y="24688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8768" y="2578608"/>
            <a:ext cx="228600" cy="228600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4343400" y="246888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/>
        </p:spPr>
      </p:sp>
      <p:sp>
        <p:nvSpPr>
          <p:cNvPr id="45" name="Text 32"/>
          <p:cNvSpPr/>
          <p:nvPr/>
        </p:nvSpPr>
        <p:spPr>
          <a:xfrm>
            <a:off x="4343400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700" dirty="0"/>
          </a:p>
        </p:txBody>
      </p:sp>
      <p:sp>
        <p:nvSpPr>
          <p:cNvPr id="46" name="Text 33"/>
          <p:cNvSpPr/>
          <p:nvPr/>
        </p:nvSpPr>
        <p:spPr>
          <a:xfrm>
            <a:off x="4343400" y="2697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2〜3年目</a:t>
            </a:r>
            <a:endParaRPr lang="en-US" sz="700" dirty="0"/>
          </a:p>
        </p:txBody>
      </p:sp>
      <p:sp>
        <p:nvSpPr>
          <p:cNvPr id="47" name="Text 34"/>
          <p:cNvSpPr/>
          <p:nvPr/>
        </p:nvSpPr>
        <p:spPr>
          <a:xfrm>
            <a:off x="374904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事業拡大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4760" y="3355848"/>
            <a:ext cx="118872" cy="11887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3995928" y="333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2台目導入</a:t>
            </a:r>
            <a:endParaRPr lang="en-US" sz="8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4760" y="3584448"/>
            <a:ext cx="118872" cy="118872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3995928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車種ラインナップ拡充</a:t>
            </a:r>
            <a:endParaRPr lang="en-US" sz="8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4760" y="3813048"/>
            <a:ext cx="118872" cy="11887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995928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法人契約の開拓</a:t>
            </a:r>
            <a:endParaRPr lang="en-US" sz="8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4760" y="4041648"/>
            <a:ext cx="118872" cy="118872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3995928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収益基盤の強化</a:t>
            </a:r>
            <a:endParaRPr lang="en-US" sz="800" dirty="0"/>
          </a:p>
        </p:txBody>
      </p:sp>
      <p:sp>
        <p:nvSpPr>
          <p:cNvPr id="56" name="Shape 39"/>
          <p:cNvSpPr/>
          <p:nvPr/>
        </p:nvSpPr>
        <p:spPr>
          <a:xfrm>
            <a:off x="3749040" y="42976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4760" y="4389120"/>
            <a:ext cx="137160" cy="13716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3995928" y="43891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2台体制</a:t>
            </a:r>
            <a:endParaRPr lang="en-US" sz="700" dirty="0"/>
          </a:p>
        </p:txBody>
      </p:sp>
      <p:sp>
        <p:nvSpPr>
          <p:cNvPr id="59" name="Shape 41"/>
          <p:cNvSpPr/>
          <p:nvPr/>
        </p:nvSpPr>
        <p:spPr>
          <a:xfrm>
            <a:off x="6080760" y="2286000"/>
            <a:ext cx="21945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Shape 42"/>
          <p:cNvSpPr/>
          <p:nvPr/>
        </p:nvSpPr>
        <p:spPr>
          <a:xfrm>
            <a:off x="6080760" y="2286000"/>
            <a:ext cx="219456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1" name="Shape 43"/>
          <p:cNvSpPr/>
          <p:nvPr/>
        </p:nvSpPr>
        <p:spPr>
          <a:xfrm>
            <a:off x="6217920" y="24688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2578608"/>
            <a:ext cx="228600" cy="228600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6812280" y="246888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/>
        </p:spPr>
      </p:sp>
      <p:sp>
        <p:nvSpPr>
          <p:cNvPr id="64" name="Text 45"/>
          <p:cNvSpPr/>
          <p:nvPr/>
        </p:nvSpPr>
        <p:spPr>
          <a:xfrm>
            <a:off x="6812280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700" dirty="0"/>
          </a:p>
        </p:txBody>
      </p:sp>
      <p:sp>
        <p:nvSpPr>
          <p:cNvPr id="65" name="Text 46"/>
          <p:cNvSpPr/>
          <p:nvPr/>
        </p:nvSpPr>
        <p:spPr>
          <a:xfrm>
            <a:off x="6812280" y="2697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</a:t>
            </a:r>
            <a:endParaRPr lang="en-US" sz="700" dirty="0"/>
          </a:p>
        </p:txBody>
      </p:sp>
      <p:sp>
        <p:nvSpPr>
          <p:cNvPr id="66" name="Text 47"/>
          <p:cNvSpPr/>
          <p:nvPr/>
        </p:nvSpPr>
        <p:spPr>
          <a:xfrm>
            <a:off x="621792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特化・AI活用</a:t>
            </a:r>
            <a:endParaRPr lang="en-US" sz="1100" dirty="0"/>
          </a:p>
        </p:txBody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3640" y="3355848"/>
            <a:ext cx="118872" cy="118872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6464808" y="333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キャンピングカー特化</a:t>
            </a:r>
            <a:endParaRPr lang="en-US" sz="80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3640" y="3584448"/>
            <a:ext cx="118872" cy="118872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6464808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AI需要予測・価格最適化</a:t>
            </a:r>
            <a:endParaRPr lang="en-US" sz="80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63640" y="3813048"/>
            <a:ext cx="118872" cy="118872"/>
          </a:xfrm>
          <a:prstGeom prst="rect">
            <a:avLst/>
          </a:prstGeom>
        </p:spPr>
      </p:pic>
      <p:sp>
        <p:nvSpPr>
          <p:cNvPr id="72" name="Text 50"/>
          <p:cNvSpPr/>
          <p:nvPr/>
        </p:nvSpPr>
        <p:spPr>
          <a:xfrm>
            <a:off x="6464808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予約最適化システム</a:t>
            </a:r>
            <a:endParaRPr lang="en-US" sz="800" dirty="0"/>
          </a:p>
        </p:txBody>
      </p:sp>
      <p:pic>
        <p:nvPicPr>
          <p:cNvPr id="7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63640" y="4041648"/>
            <a:ext cx="118872" cy="118872"/>
          </a:xfrm>
          <a:prstGeom prst="rect">
            <a:avLst/>
          </a:prstGeom>
        </p:spPr>
      </p:pic>
      <p:sp>
        <p:nvSpPr>
          <p:cNvPr id="74" name="Text 51"/>
          <p:cNvSpPr/>
          <p:nvPr/>
        </p:nvSpPr>
        <p:spPr>
          <a:xfrm>
            <a:off x="6464808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高稼働・高収益モデル</a:t>
            </a:r>
            <a:endParaRPr lang="en-US" sz="800" dirty="0"/>
          </a:p>
        </p:txBody>
      </p:sp>
      <p:sp>
        <p:nvSpPr>
          <p:cNvPr id="75" name="Shape 52"/>
          <p:cNvSpPr/>
          <p:nvPr/>
        </p:nvSpPr>
        <p:spPr>
          <a:xfrm>
            <a:off x="6217920" y="4297680"/>
            <a:ext cx="19202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pic>
        <p:nvPicPr>
          <p:cNvPr id="7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63640" y="4389120"/>
            <a:ext cx="137160" cy="137160"/>
          </a:xfrm>
          <a:prstGeom prst="rect">
            <a:avLst/>
          </a:prstGeom>
        </p:spPr>
      </p:pic>
      <p:sp>
        <p:nvSpPr>
          <p:cNvPr id="77" name="Text 53"/>
          <p:cNvSpPr/>
          <p:nvPr/>
        </p:nvSpPr>
        <p:spPr>
          <a:xfrm>
            <a:off x="6464808" y="43891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AI駆動型運営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2011680" cy="201168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200400"/>
            <a:ext cx="2560320" cy="2560320"/>
          </a:xfrm>
          <a:prstGeom prst="ellipse">
            <a:avLst/>
          </a:prstGeom>
          <a:solidFill>
            <a:srgbClr val="F97316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5486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229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ご清聴ありがとうございました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206240" y="301752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AIレンタカー 事業計画書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60320" y="36576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37033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INFORMATION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0233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info@ai-rental-car.jp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02336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4023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千葉県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315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</a:t>
            </a:r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AIレンタカー 事業計画書</dc:title>
  <dc:subject>PptxGenJS Presentation</dc:subject>
  <dc:creator>AI Rental Car</dc:creator>
  <cp:lastModifiedBy>AI Rental Car</cp:lastModifiedBy>
  <cp:revision>1</cp:revision>
  <dcterms:created xsi:type="dcterms:W3CDTF">2026-02-09T13:36:37Z</dcterms:created>
  <dcterms:modified xsi:type="dcterms:W3CDTF">2026-02-09T13:36:37Z</dcterms:modified>
</cp:coreProperties>
</file>