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レンタカー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普通自動車レンタカー事業計画書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2560320"/>
            <a:ext cx="914400" cy="4572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「レジャー・週末利用に最適化した、AI活用型レンタカーサービス」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320040" cy="32004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6010" y="3737610"/>
            <a:ext cx="160020" cy="1600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9748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0" y="3657600"/>
            <a:ext cx="320040" cy="32004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90" y="3737610"/>
            <a:ext cx="160020" cy="1600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千葉県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120640" y="3657600"/>
            <a:ext cx="320040" cy="32004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3737610"/>
            <a:ext cx="160020" cy="1600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個人事業主（副業スタート）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2743200" cy="27432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97280" y="1188720"/>
            <a:ext cx="6949440" cy="685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97280" y="1188720"/>
            <a:ext cx="36576" cy="68580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234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 &amp; 提供価値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1554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事業の全体像と4つの提供価値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2011680"/>
            <a:ext cx="6949440" cy="685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2011680"/>
            <a:ext cx="36576" cy="68580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0574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市場・ターゲット・競合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市場環境、顧客像、競合との差別化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2834640"/>
            <a:ext cx="6949440" cy="685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0" y="2834640"/>
            <a:ext cx="36576" cy="68580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2880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9202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サービス・チャネル・オペレーション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サービス内容、集客戦略、運営体制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3657600"/>
            <a:ext cx="6949440" cy="685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7280" y="3657600"/>
            <a:ext cx="36576" cy="68580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3703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9202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財務計画・リスク・成長ロードマップ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2024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投資計画、収支モデル、リスク対策、成長戦略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-457200"/>
            <a:ext cx="1645920" cy="1645920"/>
          </a:xfrm>
          <a:prstGeom prst="ellipse">
            <a:avLst/>
          </a:prstGeom>
          <a:solidFill>
            <a:srgbClr val="007B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411480" cy="41148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8343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提供価値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AIレンタカーの事業全体像と、お客様に提供する4つの価値をご紹介します。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0480" y="118872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13030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1097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48056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レンタカー事業（日貸・時間貸）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840480" y="22860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780" y="24003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48056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千葉県（首都圏・房総エリア）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840480" y="338328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34975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80560" y="3291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48056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AI活用（需要予測・価格最適化）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2286000" cy="2286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事業概要と提供価値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143000"/>
            <a:ext cx="548640" cy="201168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143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801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365760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1508760"/>
            <a:ext cx="36576" cy="50292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554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" y="1719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103120"/>
            <a:ext cx="365760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103120"/>
            <a:ext cx="36576" cy="50292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1488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事業形態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77240" y="2313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個人事業主（副業スタート）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697480"/>
            <a:ext cx="365760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697480"/>
            <a:ext cx="36576" cy="50292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743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事業内容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7240" y="2907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普通自動車のレンタカー事業（日貸・時間貸）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291840"/>
            <a:ext cx="365760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291840"/>
            <a:ext cx="36576" cy="50292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337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開業予定地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7240" y="3502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千葉県（首都圏・房総エリアへのアクセス拠点）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143000"/>
            <a:ext cx="457200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143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30352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提供価値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374904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508760"/>
            <a:ext cx="36576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18488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303520" y="1554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レジャー・週末利用に最適化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0352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観光・アウトドアに特化した車両ラインナップ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754880" y="2103120"/>
            <a:ext cx="374904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54880" y="2103120"/>
            <a:ext cx="36576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12848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303520" y="2148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清潔・高品質な車両管理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5303520" y="2359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徹底した清掃と品質管理で安心のサービス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4754880" y="2697480"/>
            <a:ext cx="374904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754880" y="2697480"/>
            <a:ext cx="36576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07208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30352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柔軟な受渡・対応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5303520" y="29535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個人運営ならではの柔軟なサービス提供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4754880" y="3291840"/>
            <a:ext cx="3749040" cy="502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4754880" y="3291840"/>
            <a:ext cx="36576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01568"/>
            <a:ext cx="274320" cy="27432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30352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AI活用による高稼働運営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5303520" y="3547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需要予測・価格最適化・予約最適化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914400"/>
            <a:ext cx="2743200" cy="27432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4つの提供価値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1430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143000"/>
            <a:ext cx="246888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463040" y="1325880"/>
            <a:ext cx="411480" cy="41148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910" y="1428750"/>
            <a:ext cx="205740" cy="2057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レジャー最適化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観光・アウトドアに特化した車両ラインナップ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724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週末・連休に強い車種構成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337560" y="11430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37560" y="1143000"/>
            <a:ext cx="24688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4160520" y="1325880"/>
            <a:ext cx="411480" cy="4114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390" y="1428750"/>
            <a:ext cx="205740" cy="2057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7472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高品質管理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7472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徹底した清掃と品質管理で安心・快適なドライブ体験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徹底した清掃・点検体制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6035040" y="11430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35040" y="1143000"/>
            <a:ext cx="2468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3"/>
          <p:cNvSpPr/>
          <p:nvPr/>
        </p:nvSpPr>
        <p:spPr>
          <a:xfrm>
            <a:off x="6858000" y="1325880"/>
            <a:ext cx="411480" cy="4114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70" y="1428750"/>
            <a:ext cx="205740" cy="2057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7220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柔軟な運営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17220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お客様一人ひとりのニーズに迅速に対応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17220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お客様のニーズに即対応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3554730"/>
            <a:ext cx="251460" cy="2514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645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将来のAI活用による高稼働運営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64592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需要予測・価格最適化・予約最適化により、車両稼働率を最大化し、収益性の高い運営を実現します。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583680" y="3429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520440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4652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需要予測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7315200" y="3429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520440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17804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価格最適化</a:t>
            </a:r>
            <a:endParaRPr lang="en-US" sz="700" dirty="0"/>
          </a:p>
        </p:txBody>
      </p:sp>
      <p:sp>
        <p:nvSpPr>
          <p:cNvPr id="43" name="Shape 35"/>
          <p:cNvSpPr/>
          <p:nvPr/>
        </p:nvSpPr>
        <p:spPr>
          <a:xfrm>
            <a:off x="8046720" y="3429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520440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90956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予約最適化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-457200"/>
            <a:ext cx="1645920" cy="1645920"/>
          </a:xfrm>
          <a:prstGeom prst="ellipse">
            <a:avLst/>
          </a:prstGeom>
          <a:solidFill>
            <a:srgbClr val="007B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411480" cy="41148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8343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市場環境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市場動向・競合環境の分析と、ターゲット顧客像を明確にします。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0480" y="118872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13030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1097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48056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首都圏在住の個人・ファミリー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840480" y="22860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780" y="24003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48056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観光回復・アウトドア需要増加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840480" y="338328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34975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80560" y="3291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48056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用途特化・品質重視・柔軟運営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ターゲット顧客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1430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34440" y="1280160"/>
            <a:ext cx="411480" cy="41148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1383030"/>
            <a:ext cx="205740" cy="2057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首都圏在住の個人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東京・千葉・埼玉・神奈川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651760" y="11430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280160"/>
            <a:ext cx="411480" cy="4114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90" y="1383030"/>
            <a:ext cx="205740" cy="2057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ファミリー層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7432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子育て世帯の週末・連休利用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663440" y="11430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257800" y="1280160"/>
            <a:ext cx="411480" cy="41148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670" y="1383030"/>
            <a:ext cx="205740" cy="2057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アウトドア利用者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548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週末・連休の観光・キャンプ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6675120" y="1143000"/>
            <a:ext cx="1828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69480" y="1280160"/>
            <a:ext cx="411480" cy="41148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1383030"/>
            <a:ext cx="205740" cy="2057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656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マイカー非保有層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都市部で車を持たない個人</a:t>
            </a:r>
            <a:endParaRPr lang="en-US" sz="700" dirty="0"/>
          </a:p>
        </p:txBody>
      </p:sp>
      <p:sp>
        <p:nvSpPr>
          <p:cNvPr id="31" name="Shape 25"/>
          <p:cNvSpPr/>
          <p:nvPr/>
        </p:nvSpPr>
        <p:spPr>
          <a:xfrm>
            <a:off x="640080" y="2834640"/>
            <a:ext cx="374904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944368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584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市場環境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77240" y="3291840"/>
            <a:ext cx="228600" cy="22860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" y="3348990"/>
            <a:ext cx="114300" cy="1143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97280" y="32735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観光回復トレンド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97280" y="34564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国内観光市場の回復に伴い、レンタカー需要が安定成長</a:t>
            </a:r>
            <a:endParaRPr lang="en-US" sz="700" dirty="0"/>
          </a:p>
        </p:txBody>
      </p:sp>
      <p:sp>
        <p:nvSpPr>
          <p:cNvPr id="38" name="Shape 30"/>
          <p:cNvSpPr/>
          <p:nvPr/>
        </p:nvSpPr>
        <p:spPr>
          <a:xfrm>
            <a:off x="777240" y="3794760"/>
            <a:ext cx="228600" cy="22860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" y="3851910"/>
            <a:ext cx="114300" cy="1143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97280" y="3776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アウトドア需要増加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97280" y="39593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キャンプ・アウトドアブームの定着で車両ニーズが拡大</a:t>
            </a:r>
            <a:endParaRPr lang="en-US" sz="700" dirty="0"/>
          </a:p>
        </p:txBody>
      </p:sp>
      <p:sp>
        <p:nvSpPr>
          <p:cNvPr id="42" name="Shape 33"/>
          <p:cNvSpPr/>
          <p:nvPr/>
        </p:nvSpPr>
        <p:spPr>
          <a:xfrm>
            <a:off x="4754880" y="2834640"/>
            <a:ext cx="3749040" cy="164592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34"/>
          <p:cNvSpPr/>
          <p:nvPr/>
        </p:nvSpPr>
        <p:spPr>
          <a:xfrm>
            <a:off x="4937760" y="2971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TARGET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493776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将来のターゲット拡大</a:t>
            </a:r>
            <a:endParaRPr lang="en-US" sz="1300" dirty="0"/>
          </a:p>
        </p:txBody>
      </p:sp>
      <p:sp>
        <p:nvSpPr>
          <p:cNvPr id="45" name="Shape 36"/>
          <p:cNvSpPr/>
          <p:nvPr/>
        </p:nvSpPr>
        <p:spPr>
          <a:xfrm>
            <a:off x="5029200" y="3657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780" y="3726180"/>
            <a:ext cx="137160" cy="1371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39496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法人利用・長期レンタル需要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5029200" y="40233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7780" y="4091940"/>
            <a:ext cx="137160" cy="13716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39496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キャンピングカー特化市場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競合比較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97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比較項目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大手レンタカー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地場中小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3774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141732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417320"/>
            <a:ext cx="2377440" cy="347472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価格帯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9456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高価格（画一的）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低〜中価格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適正価格（用途最適化）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1764792"/>
            <a:ext cx="7863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764792"/>
            <a:ext cx="2377440" cy="347472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1764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車両品質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9456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24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ばらつきあり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0" y="1764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清潔・高品質管理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" y="2112264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2112264"/>
            <a:ext cx="2377440" cy="347472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2112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194560" y="2112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画一的な対応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06240" y="2112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個人差あり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112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柔軟な個別対応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" y="2459736"/>
            <a:ext cx="7863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2459736"/>
            <a:ext cx="2377440" cy="347472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2459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用途特化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194560" y="24597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汎用的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06240" y="24597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限定的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24597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レジャー・週末特化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2807208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126480" y="2807208"/>
            <a:ext cx="2377440" cy="347472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28072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受渡し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94560" y="2807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店舗固定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06240" y="2807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店舗固定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17920" y="28072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柔軟な受渡対応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" y="3246120"/>
            <a:ext cx="7863840" cy="82296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383280"/>
            <a:ext cx="411480" cy="41148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486150"/>
            <a:ext cx="205740" cy="20574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46304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ポジショニング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46304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大手の画一性と地場中小の品質ばらつきの間に「用途特化 × 高品質 × 柔軟運営」のポジションを確立。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差別化ポイント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09728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097280"/>
            <a:ext cx="379476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280160"/>
            <a:ext cx="365760" cy="36576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3444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用途特化戦略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レジャー・週末利用に完全特化。観光・アウトドアに最適な車両ラインナップとプランを設計。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7240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週末・連休プラン最適化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63440" y="109728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097280"/>
            <a:ext cx="3794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4800600" y="1280160"/>
            <a:ext cx="365760" cy="36576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品質訴求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006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徹底した清掃・点検体制で「選ばれる品質」を実現。口コミ評価を向上。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800600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徹底した品質管理体制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40080" y="288036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0080" y="2880360"/>
            <a:ext cx="37947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3"/>
          <p:cNvSpPr/>
          <p:nvPr/>
        </p:nvSpPr>
        <p:spPr>
          <a:xfrm>
            <a:off x="777240" y="3063240"/>
            <a:ext cx="365760" cy="36576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344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柔軟な個人運営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7724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受渡場所・時間の調整、急な変更への対応など、大手にはない柔軟なサービス。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7724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顧客ニーズに即座に対応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663440" y="288036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63440" y="2880360"/>
            <a:ext cx="3794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Shape 29"/>
          <p:cNvSpPr/>
          <p:nvPr/>
        </p:nvSpPr>
        <p:spPr>
          <a:xfrm>
            <a:off x="4800600" y="3063240"/>
            <a:ext cx="365760" cy="36576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5780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AI活用（将来構想）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80060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需要予測・価格最適化・予約最適化をAIで実現し、車両稼働率を最大化。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480060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データドリブン経営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-457200"/>
            <a:ext cx="1645920" cy="1645920"/>
          </a:xfrm>
          <a:prstGeom prst="ellipse">
            <a:avLst/>
          </a:prstGeom>
          <a:solidFill>
            <a:srgbClr val="007B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411480" cy="41148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8343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サービスの詳細設計、集客チャネル、オペレーション体制を解説します。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0480" y="118872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13030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1097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Design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48056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レンタカー（日貸・時間貸）+ オプション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840480" y="22860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780" y="24003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48056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+ 比較サイト + Google + SNS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840480" y="338328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34975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80560" y="3291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48056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代表者1名による効率運営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サービス内容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97280" y="1097280"/>
            <a:ext cx="6949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34440" y="1234440"/>
            <a:ext cx="365760" cy="365760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レンタカー（日貸・時間貸）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1444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普通自動車を日単位・時間単位でレンタル。個人・ファミリーの多様なニーズに対応します。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97280" y="1920240"/>
            <a:ext cx="6949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4440" y="2057400"/>
            <a:ext cx="365760" cy="365760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2011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週末・連休向けプラン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22677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週末やGW・お盆・年末年始など繁忙期に合わせた特別プランを用意。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97280" y="2743200"/>
            <a:ext cx="6949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34440" y="2880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834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オプションサービス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83080" y="30906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チャイルドシート、ETCカード、アウトドア用品など、旅をより快適にするオプション。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97280" y="3566160"/>
            <a:ext cx="6949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34440" y="37033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2344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657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将来構想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83080" y="39136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キャンピングカーの導入、法人契約、長期レンタルへの展開を計画。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集客・販売チャネル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188720"/>
            <a:ext cx="17830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188720"/>
            <a:ext cx="178308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1417320"/>
            <a:ext cx="411480" cy="41148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1520190"/>
            <a:ext cx="205740" cy="2057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97280" y="1965960"/>
            <a:ext cx="640080" cy="201168"/>
          </a:xfrm>
          <a:prstGeom prst="ellipse">
            <a:avLst/>
          </a:prstGeom>
          <a:solidFill>
            <a:srgbClr val="EBF5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3152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自社Webサイト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2606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予約・問い合わせの窓口。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SEO対策で検索流入を獲得</a:t>
            </a:r>
            <a:endParaRPr lang="en-US" sz="7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011680"/>
            <a:ext cx="182880" cy="1828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697480" y="1188720"/>
            <a:ext cx="17830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97480" y="1188720"/>
            <a:ext cx="178308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22" name="Shape 18"/>
          <p:cNvSpPr/>
          <p:nvPr/>
        </p:nvSpPr>
        <p:spPr>
          <a:xfrm>
            <a:off x="3246120" y="1417320"/>
            <a:ext cx="411480" cy="41148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990" y="1520190"/>
            <a:ext cx="205740" cy="2057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154680" y="1965960"/>
            <a:ext cx="640080" cy="201168"/>
          </a:xfrm>
          <a:prstGeom prst="ellipse">
            <a:avLst/>
          </a:prstGeom>
          <a:solidFill>
            <a:srgbClr val="EBF5FF"/>
          </a:solidFill>
          <a:ln/>
        </p:spPr>
      </p:sp>
      <p:sp>
        <p:nvSpPr>
          <p:cNvPr id="25" name="Text 20"/>
          <p:cNvSpPr/>
          <p:nvPr/>
        </p:nvSpPr>
        <p:spPr>
          <a:xfrm>
            <a:off x="315468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278892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比較サイト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788920" y="2606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レンタカー比較サイトへの掲載で新規顧客にリーチ</a:t>
            </a:r>
            <a:endParaRPr lang="en-US" sz="7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01168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754880" y="1188720"/>
            <a:ext cx="17830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1188720"/>
            <a:ext cx="178308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31" name="Shape 25"/>
          <p:cNvSpPr/>
          <p:nvPr/>
        </p:nvSpPr>
        <p:spPr>
          <a:xfrm>
            <a:off x="5303520" y="1417320"/>
            <a:ext cx="411480" cy="41148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390" y="1520190"/>
            <a:ext cx="205740" cy="20574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212080" y="1965960"/>
            <a:ext cx="640080" cy="201168"/>
          </a:xfrm>
          <a:prstGeom prst="ellipse">
            <a:avLst/>
          </a:prstGeom>
          <a:solidFill>
            <a:srgbClr val="EBF5FF"/>
          </a:solidFill>
          <a:ln/>
        </p:spPr>
      </p:sp>
      <p:sp>
        <p:nvSpPr>
          <p:cNvPr id="34" name="Text 27"/>
          <p:cNvSpPr/>
          <p:nvPr/>
        </p:nvSpPr>
        <p:spPr>
          <a:xfrm>
            <a:off x="521208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484632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Googleマップ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846320" y="2606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口コミ・レビュー獲得で地域検索からの集客を強化</a:t>
            </a:r>
            <a:endParaRPr lang="en-US" sz="7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011680"/>
            <a:ext cx="182880" cy="18288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6812280" y="1188720"/>
            <a:ext cx="17830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812280" y="1188720"/>
            <a:ext cx="178308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0" name="Shape 32"/>
          <p:cNvSpPr/>
          <p:nvPr/>
        </p:nvSpPr>
        <p:spPr>
          <a:xfrm>
            <a:off x="7360920" y="1417320"/>
            <a:ext cx="411480" cy="41148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790" y="1520190"/>
            <a:ext cx="205740" cy="20574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7269480" y="1965960"/>
            <a:ext cx="640080" cy="201168"/>
          </a:xfrm>
          <a:prstGeom prst="ellipse">
            <a:avLst/>
          </a:prstGeom>
          <a:solidFill>
            <a:srgbClr val="EBF5FF"/>
          </a:solidFill>
          <a:ln/>
        </p:spPr>
      </p:sp>
      <p:sp>
        <p:nvSpPr>
          <p:cNvPr id="43" name="Text 34"/>
          <p:cNvSpPr/>
          <p:nvPr/>
        </p:nvSpPr>
        <p:spPr>
          <a:xfrm>
            <a:off x="726948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00" dirty="0"/>
          </a:p>
        </p:txBody>
      </p:sp>
      <p:sp>
        <p:nvSpPr>
          <p:cNvPr id="44" name="Text 35"/>
          <p:cNvSpPr/>
          <p:nvPr/>
        </p:nvSpPr>
        <p:spPr>
          <a:xfrm>
            <a:off x="690372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 (Instagram)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6903720" y="2606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レジャー・アウトドア写真で認知拡大とファン獲得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オペレーション体制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EBF5FF"/>
          </a:solidFill>
          <a:ln w="19050">
            <a:solidFill>
              <a:srgbClr val="007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188720"/>
            <a:ext cx="411480" cy="182880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188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8016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経営・管理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1490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受付・車両管理・事務を兼任</a:t>
            </a:r>
            <a:endParaRPr lang="en-US" sz="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0876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1490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品質管理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74904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清掃・点検の徹底</a:t>
            </a:r>
            <a:endParaRPr lang="en-US" sz="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1490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経営分析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35508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稼働率・収益のモニタリング</a:t>
            </a:r>
            <a:endParaRPr lang="en-US" sz="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94560"/>
            <a:ext cx="182880" cy="1828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40080" y="2468880"/>
            <a:ext cx="7863840" cy="960120"/>
          </a:xfrm>
          <a:prstGeom prst="rect">
            <a:avLst/>
          </a:prstGeom>
          <a:solidFill>
            <a:srgbClr val="F8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2560320"/>
            <a:ext cx="4114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" y="2560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128016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日常オペレーション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88036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43000" y="2862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車両受渡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43000" y="3035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お客様への車両引渡・返却</a:t>
            </a:r>
            <a:endParaRPr lang="en-US" sz="7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88036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49040" y="2862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車両清掃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3749040" y="3035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返却後の清掃・消毒作業</a:t>
            </a:r>
            <a:endParaRPr lang="en-US" sz="7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288036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55080" y="2862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車両点検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6355080" y="3035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定期的な整備・安全確認</a:t>
            </a:r>
            <a:endParaRPr lang="en-US" sz="7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3474720"/>
            <a:ext cx="182880" cy="18288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solidFill>
            <a:srgbClr val="F8F9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77240" y="3840480"/>
            <a:ext cx="548640" cy="18288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41" name="Text 31"/>
          <p:cNvSpPr/>
          <p:nvPr/>
        </p:nvSpPr>
        <p:spPr>
          <a:xfrm>
            <a:off x="777240" y="3840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00" dirty="0"/>
          </a:p>
        </p:txBody>
      </p:sp>
      <p:sp>
        <p:nvSpPr>
          <p:cNvPr id="42" name="Text 32"/>
          <p:cNvSpPr/>
          <p:nvPr/>
        </p:nvSpPr>
        <p:spPr>
          <a:xfrm>
            <a:off x="141732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外部委託（繁忙期）</a:t>
            </a:r>
            <a:endParaRPr lang="en-US" sz="10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160520"/>
            <a:ext cx="228600" cy="22860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143000" y="4142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清掃外注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43000" y="4315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繁忙期の清掃・点検業務を外注</a:t>
            </a:r>
            <a:endParaRPr lang="en-US" sz="7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4160520"/>
            <a:ext cx="228600" cy="2286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800600" y="4142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整備委託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4800600" y="4315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専門的な整備・修理は外部委託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-457200"/>
            <a:ext cx="1645920" cy="1645920"/>
          </a:xfrm>
          <a:prstGeom prst="ellipse">
            <a:avLst/>
          </a:prstGeom>
          <a:solidFill>
            <a:srgbClr val="007B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411480" cy="41148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8343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財務計画・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リスク・成長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投資計画、収支モデル、リスク対策、成長戦略をご説明します。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0480" y="118872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13030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1097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48056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総額700〜1,000万円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840480" y="22860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780" y="24003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48056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月商約18万円・月間利益2〜5万円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840480" y="3383280"/>
            <a:ext cx="457200" cy="457200"/>
          </a:xfrm>
          <a:prstGeom prst="ellipse">
            <a:avLst/>
          </a:prstGeom>
          <a:solidFill>
            <a:srgbClr val="EBF5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34975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80560" y="3291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48056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1台→2台→キャンピングカー特化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初期投資の内訳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09728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097280"/>
            <a:ext cx="36576" cy="105156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170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車両購入</a:t>
            </a:r>
            <a:endParaRPr lang="en-US" sz="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170432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600-900万円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17830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中古車1台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651760" y="109728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51760" y="1097280"/>
            <a:ext cx="36576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2788920" y="1170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登録・整備・保険</a:t>
            </a:r>
            <a:endParaRPr lang="en-US" sz="7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70432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889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50万円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663440" y="109728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63440" y="1097280"/>
            <a:ext cx="36576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0"/>
          <p:cNvSpPr/>
          <p:nvPr/>
        </p:nvSpPr>
        <p:spPr>
          <a:xfrm>
            <a:off x="4800600" y="1170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設備・備品</a:t>
            </a:r>
            <a:endParaRPr lang="en-US" sz="7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70432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006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20万円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675120" y="109728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75120" y="1097280"/>
            <a:ext cx="36576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4"/>
          <p:cNvSpPr/>
          <p:nvPr/>
        </p:nvSpPr>
        <p:spPr>
          <a:xfrm>
            <a:off x="6812280" y="1170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Web・広告</a:t>
            </a:r>
            <a:endParaRPr lang="en-US" sz="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70432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1228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10万円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640080" y="2331720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77724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投資内訳チャート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77240" y="27889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3200400" y="2788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600-900万円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777240" y="2971800"/>
            <a:ext cx="3383280" cy="1097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7" name="Shape 31"/>
          <p:cNvSpPr/>
          <p:nvPr/>
        </p:nvSpPr>
        <p:spPr>
          <a:xfrm>
            <a:off x="777240" y="2971800"/>
            <a:ext cx="2875788" cy="109728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38" name="Text 32"/>
          <p:cNvSpPr/>
          <p:nvPr/>
        </p:nvSpPr>
        <p:spPr>
          <a:xfrm>
            <a:off x="777240" y="3154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登録等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3200400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50万円</a:t>
            </a:r>
            <a:endParaRPr lang="en-US" sz="700" dirty="0"/>
          </a:p>
        </p:txBody>
      </p:sp>
      <p:sp>
        <p:nvSpPr>
          <p:cNvPr id="40" name="Shape 34"/>
          <p:cNvSpPr/>
          <p:nvPr/>
        </p:nvSpPr>
        <p:spPr>
          <a:xfrm>
            <a:off x="777240" y="3337560"/>
            <a:ext cx="3383280" cy="1097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Shape 35"/>
          <p:cNvSpPr/>
          <p:nvPr/>
        </p:nvSpPr>
        <p:spPr>
          <a:xfrm>
            <a:off x="777240" y="3337560"/>
            <a:ext cx="23683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36"/>
          <p:cNvSpPr/>
          <p:nvPr/>
        </p:nvSpPr>
        <p:spPr>
          <a:xfrm>
            <a:off x="777240" y="3520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3200400" y="3520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20万円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777240" y="3703320"/>
            <a:ext cx="3383280" cy="1097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5" name="Shape 39"/>
          <p:cNvSpPr/>
          <p:nvPr/>
        </p:nvSpPr>
        <p:spPr>
          <a:xfrm>
            <a:off x="777240" y="3703320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0"/>
          <p:cNvSpPr/>
          <p:nvPr/>
        </p:nvSpPr>
        <p:spPr>
          <a:xfrm>
            <a:off x="777240" y="38862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</a:t>
            </a:r>
            <a:endParaRPr lang="en-US" sz="700" dirty="0"/>
          </a:p>
        </p:txBody>
      </p:sp>
      <p:sp>
        <p:nvSpPr>
          <p:cNvPr id="47" name="Text 41"/>
          <p:cNvSpPr/>
          <p:nvPr/>
        </p:nvSpPr>
        <p:spPr>
          <a:xfrm>
            <a:off x="3200400" y="3886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10万円</a:t>
            </a:r>
            <a:endParaRPr lang="en-US" sz="700" dirty="0"/>
          </a:p>
        </p:txBody>
      </p:sp>
      <p:sp>
        <p:nvSpPr>
          <p:cNvPr id="48" name="Shape 42"/>
          <p:cNvSpPr/>
          <p:nvPr/>
        </p:nvSpPr>
        <p:spPr>
          <a:xfrm>
            <a:off x="777240" y="4069080"/>
            <a:ext cx="3383280" cy="1097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9" name="Shape 43"/>
          <p:cNvSpPr/>
          <p:nvPr/>
        </p:nvSpPr>
        <p:spPr>
          <a:xfrm>
            <a:off x="777240" y="4069080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Shape 44"/>
          <p:cNvSpPr/>
          <p:nvPr/>
        </p:nvSpPr>
        <p:spPr>
          <a:xfrm>
            <a:off x="4754880" y="2331720"/>
            <a:ext cx="3749040" cy="219456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Text 45"/>
          <p:cNvSpPr/>
          <p:nvPr/>
        </p:nvSpPr>
        <p:spPr>
          <a:xfrm>
            <a:off x="4937760" y="2514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9377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700〜1,000万円</a:t>
            </a:r>
            <a:endParaRPr lang="en-US" sz="2800" dirty="0"/>
          </a:p>
        </p:txBody>
      </p:sp>
      <p:sp>
        <p:nvSpPr>
          <p:cNvPr id="53" name="Shape 47"/>
          <p:cNvSpPr/>
          <p:nvPr/>
        </p:nvSpPr>
        <p:spPr>
          <a:xfrm>
            <a:off x="4937760" y="3383280"/>
            <a:ext cx="73152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54" name="Text 48"/>
          <p:cNvSpPr/>
          <p:nvPr/>
        </p:nvSpPr>
        <p:spPr>
          <a:xfrm>
            <a:off x="493776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車両購入費が全体の85%以上を占めます。中古車を活用し初期コストを抑制。段階的な投資で事業リスクを最小化する戦略です。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FUNDING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収支モデル・資金調達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1078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月次収支モデル（標準）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1417320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稼働日数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31520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12日/月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14600" y="1417320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60604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平均単価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606040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15,000円/日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2194560"/>
            <a:ext cx="3749040" cy="21945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77440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05840" y="2350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月商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92608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約18万円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77240" y="2743200"/>
            <a:ext cx="3474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05840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固定費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926080" y="2788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10〜14万円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77240" y="3200400"/>
            <a:ext cx="3474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変動費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92608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2万円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77240" y="3657600"/>
            <a:ext cx="3474720" cy="0"/>
          </a:xfrm>
          <a:prstGeom prst="line">
            <a:avLst/>
          </a:prstGeom>
          <a:noFill/>
          <a:ln w="19050">
            <a:solidFill>
              <a:srgbClr val="007B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05840" y="3721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月間利益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292608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2〜5万円</a:t>
            </a:r>
            <a:endParaRPr lang="en-US" sz="1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29200" y="1078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資金調達計画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754880" y="1417320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484632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自己資金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4846320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200万円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6629400" y="1417320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672084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借入希望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6720840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800-1,000万円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4754880" y="2194560"/>
            <a:ext cx="3749040" cy="7315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4892040" y="22677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資金構成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4892040" y="2487168"/>
            <a:ext cx="676656" cy="1828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4" name="Text 38"/>
          <p:cNvSpPr/>
          <p:nvPr/>
        </p:nvSpPr>
        <p:spPr>
          <a:xfrm>
            <a:off x="4892040" y="248716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自己資金</a:t>
            </a:r>
            <a:endParaRPr lang="en-US" sz="600" dirty="0"/>
          </a:p>
        </p:txBody>
      </p:sp>
      <p:sp>
        <p:nvSpPr>
          <p:cNvPr id="45" name="Shape 39"/>
          <p:cNvSpPr/>
          <p:nvPr/>
        </p:nvSpPr>
        <p:spPr>
          <a:xfrm>
            <a:off x="5568696" y="2487168"/>
            <a:ext cx="2798064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0"/>
          <p:cNvSpPr/>
          <p:nvPr/>
        </p:nvSpPr>
        <p:spPr>
          <a:xfrm>
            <a:off x="5568696" y="2487168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</a:t>
            </a:r>
            <a:endParaRPr lang="en-US" sz="600" dirty="0"/>
          </a:p>
        </p:txBody>
      </p:sp>
      <p:sp>
        <p:nvSpPr>
          <p:cNvPr id="47" name="Text 41"/>
          <p:cNvSpPr/>
          <p:nvPr/>
        </p:nvSpPr>
        <p:spPr>
          <a:xfrm>
            <a:off x="4892040" y="27066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200万円（20%）</a:t>
            </a:r>
            <a:endParaRPr lang="en-US" sz="600" dirty="0"/>
          </a:p>
        </p:txBody>
      </p:sp>
      <p:sp>
        <p:nvSpPr>
          <p:cNvPr id="48" name="Text 42"/>
          <p:cNvSpPr/>
          <p:nvPr/>
        </p:nvSpPr>
        <p:spPr>
          <a:xfrm>
            <a:off x="6858000" y="27066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800〜1,000万円（80%）</a:t>
            </a:r>
            <a:endParaRPr lang="en-US" sz="600" dirty="0"/>
          </a:p>
        </p:txBody>
      </p:sp>
      <p:sp>
        <p:nvSpPr>
          <p:cNvPr id="49" name="Shape 43"/>
          <p:cNvSpPr/>
          <p:nvPr/>
        </p:nvSpPr>
        <p:spPr>
          <a:xfrm>
            <a:off x="4754880" y="3063240"/>
            <a:ext cx="3749040" cy="132588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Text 44"/>
          <p:cNvSpPr/>
          <p:nvPr/>
        </p:nvSpPr>
        <p:spPr>
          <a:xfrm>
            <a:off x="4937760" y="3200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PURPOSE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493776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借入用途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5029200" y="3794760"/>
            <a:ext cx="228600" cy="228600"/>
          </a:xfrm>
          <a:prstGeom prst="ellipse">
            <a:avLst/>
          </a:prstGeom>
          <a:solidFill>
            <a:srgbClr val="007BFF"/>
          </a:solidFill>
          <a:ln/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0" y="3851910"/>
            <a:ext cx="114300" cy="11430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349240" y="3813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車両購入費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5029200" y="41148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350" y="4171950"/>
            <a:ext cx="114300" cy="11430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34924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運転資金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リスクと対策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09728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280160"/>
            <a:ext cx="320040" cy="3200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360170"/>
            <a:ext cx="160020" cy="1600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12344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01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稼働率低下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1691640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繁忙期と閑散期の需要差が大きく、平均稼働率が想定を下回るリスク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77240" y="2148840"/>
            <a:ext cx="27432" cy="320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76272"/>
            <a:ext cx="137160" cy="1371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21488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914400" y="2313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副業スタートで固定費を抑制。本業収入でリスクヘッジ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4663440" y="109728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1280160"/>
            <a:ext cx="320040" cy="3200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10" y="1360170"/>
            <a:ext cx="160020" cy="1600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12080" y="12344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02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521208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事故・故障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800600" y="1691640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3"/>
          <p:cNvSpPr/>
          <p:nvPr/>
        </p:nvSpPr>
        <p:spPr>
          <a:xfrm>
            <a:off x="49377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車両の事故や故障により営業停止、修理費用が発生するリスク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4800600" y="2148840"/>
            <a:ext cx="27432" cy="320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76272"/>
            <a:ext cx="137160" cy="1371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74920" y="21488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937760" y="2313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任意保険加入・定期点検の徹底で予防と補償を確保</a:t>
            </a:r>
            <a:endParaRPr lang="en-US" sz="700" dirty="0"/>
          </a:p>
        </p:txBody>
      </p:sp>
      <p:sp>
        <p:nvSpPr>
          <p:cNvPr id="33" name="Shape 27"/>
          <p:cNvSpPr/>
          <p:nvPr/>
        </p:nvSpPr>
        <p:spPr>
          <a:xfrm>
            <a:off x="640080" y="288036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77240" y="3063240"/>
            <a:ext cx="320040" cy="3200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143250"/>
            <a:ext cx="160020" cy="1600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88720" y="30175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03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118872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価格競争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77240" y="3474720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2"/>
          <p:cNvSpPr/>
          <p:nvPr/>
        </p:nvSpPr>
        <p:spPr>
          <a:xfrm>
            <a:off x="91440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大手や新規参入者との価格競争で収益性が圧迫されるリスク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777240" y="3931920"/>
            <a:ext cx="27432" cy="320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59352"/>
            <a:ext cx="137160" cy="1371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51560" y="3931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91440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レジャー特化・品質訴求で価格以外の価値で差別化</a:t>
            </a:r>
            <a:endParaRPr lang="en-US" sz="700" dirty="0"/>
          </a:p>
        </p:txBody>
      </p:sp>
      <p:sp>
        <p:nvSpPr>
          <p:cNvPr id="44" name="Shape 36"/>
          <p:cNvSpPr/>
          <p:nvPr/>
        </p:nvSpPr>
        <p:spPr>
          <a:xfrm>
            <a:off x="4663440" y="2880360"/>
            <a:ext cx="3794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4800600" y="3063240"/>
            <a:ext cx="320040" cy="32004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0610" y="3143250"/>
            <a:ext cx="160020" cy="16002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12080" y="301752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04</a:t>
            </a:r>
            <a:endParaRPr lang="en-US" sz="700" dirty="0"/>
          </a:p>
        </p:txBody>
      </p:sp>
      <p:sp>
        <p:nvSpPr>
          <p:cNvPr id="48" name="Text 39"/>
          <p:cNvSpPr/>
          <p:nvPr/>
        </p:nvSpPr>
        <p:spPr>
          <a:xfrm>
            <a:off x="521208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資金繰り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4800600" y="3474720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1"/>
          <p:cNvSpPr/>
          <p:nvPr/>
        </p:nvSpPr>
        <p:spPr>
          <a:xfrm>
            <a:off x="493776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借入返済と運営費のバランスが崩れ、資金繰りが悪化するリスク</a:t>
            </a:r>
            <a:endParaRPr lang="en-US" sz="700" dirty="0"/>
          </a:p>
        </p:txBody>
      </p:sp>
      <p:sp>
        <p:nvSpPr>
          <p:cNvPr id="51" name="Shape 42"/>
          <p:cNvSpPr/>
          <p:nvPr/>
        </p:nvSpPr>
        <p:spPr>
          <a:xfrm>
            <a:off x="4800600" y="3931920"/>
            <a:ext cx="27432" cy="320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59352"/>
            <a:ext cx="137160" cy="13716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3931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700" dirty="0"/>
          </a:p>
        </p:txBody>
      </p:sp>
      <p:sp>
        <p:nvSpPr>
          <p:cNvPr id="54" name="Text 44"/>
          <p:cNvSpPr/>
          <p:nvPr/>
        </p:nvSpPr>
        <p:spPr>
          <a:xfrm>
            <a:off x="493776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慎重な台数拡大。1台で安定運営確認してから次の投資へ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成長ロードマップ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60120" y="1143000"/>
            <a:ext cx="411480" cy="411480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1316736"/>
            <a:ext cx="201168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69164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1691640"/>
            <a:ext cx="2514600" cy="36576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029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基盤構築フェーズ</a:t>
            </a:r>
            <a:endParaRPr lang="en-US" sz="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137160" cy="137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87552" y="2313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中古車1台で開業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137160" cy="1371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87552" y="2587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安定運営体制の確立</a:t>
            </a:r>
            <a:endParaRPr lang="en-US" sz="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80360"/>
            <a:ext cx="137160" cy="1371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7552" y="2862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稼働率の向上</a:t>
            </a:r>
            <a:endParaRPr lang="en-US" sz="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7552" y="3136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口コミ・リピーター獲得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777240" y="3520440"/>
            <a:ext cx="21945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77240" y="358444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7772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 1台 / 稼働率安定化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703320" y="11430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4"/>
          <p:cNvSpPr/>
          <p:nvPr/>
        </p:nvSpPr>
        <p:spPr>
          <a:xfrm>
            <a:off x="37033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Y2-3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160520" y="1316736"/>
            <a:ext cx="20116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26"/>
          <p:cNvSpPr/>
          <p:nvPr/>
        </p:nvSpPr>
        <p:spPr>
          <a:xfrm>
            <a:off x="3383280" y="169164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383280" y="1691640"/>
            <a:ext cx="2514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8"/>
          <p:cNvSpPr/>
          <p:nvPr/>
        </p:nvSpPr>
        <p:spPr>
          <a:xfrm>
            <a:off x="3520440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2〜3年目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520440" y="2029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拡大フェーズ</a:t>
            </a:r>
            <a:endParaRPr lang="en-US" sz="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331720"/>
            <a:ext cx="137160" cy="1371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30752" y="2313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2台目の車両導入</a:t>
            </a:r>
            <a:endParaRPr lang="en-US" sz="8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606040"/>
            <a:ext cx="137160" cy="1371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730752" y="2587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車種バリエーション拡充</a:t>
            </a:r>
            <a:endParaRPr lang="en-US" sz="8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880360"/>
            <a:ext cx="137160" cy="1371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730752" y="2862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集客チャネルの多角化</a:t>
            </a:r>
            <a:endParaRPr lang="en-US" sz="8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154680"/>
            <a:ext cx="137160" cy="1371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30752" y="3136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清掃・点検の一部外注化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3520440" y="3520440"/>
            <a:ext cx="21945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3520440" y="358444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</a:t>
            </a:r>
            <a:endParaRPr lang="en-US" sz="700" dirty="0"/>
          </a:p>
        </p:txBody>
      </p:sp>
      <p:sp>
        <p:nvSpPr>
          <p:cNvPr id="46" name="Text 36"/>
          <p:cNvSpPr/>
          <p:nvPr/>
        </p:nvSpPr>
        <p:spPr>
          <a:xfrm>
            <a:off x="35204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 2台 / 売上倍増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6446520" y="11430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38"/>
          <p:cNvSpPr/>
          <p:nvPr/>
        </p:nvSpPr>
        <p:spPr>
          <a:xfrm>
            <a:off x="6446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Y4+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126480" y="169164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6126480" y="1691640"/>
            <a:ext cx="2514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1"/>
          <p:cNvSpPr/>
          <p:nvPr/>
        </p:nvSpPr>
        <p:spPr>
          <a:xfrm>
            <a:off x="6263640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6263640" y="2029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発展フェーズ</a:t>
            </a:r>
            <a:endParaRPr lang="en-US" sz="8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331720"/>
            <a:ext cx="137160" cy="13716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6473952" y="2313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キャンピングカー特化</a:t>
            </a:r>
            <a:endParaRPr lang="en-US" sz="80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2606040"/>
            <a:ext cx="137160" cy="13716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473952" y="2587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AI活用運営の実装</a:t>
            </a:r>
            <a:endParaRPr lang="en-US" sz="8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2880360"/>
            <a:ext cx="137160" cy="13716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473952" y="2862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法人契約・長期レンタル</a:t>
            </a:r>
            <a:endParaRPr lang="en-US" sz="800" dirty="0"/>
          </a:p>
        </p:txBody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3154680"/>
            <a:ext cx="137160" cy="13716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6473952" y="3136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エリア拡大</a:t>
            </a:r>
            <a:endParaRPr lang="en-US" sz="800" dirty="0"/>
          </a:p>
        </p:txBody>
      </p:sp>
      <p:sp>
        <p:nvSpPr>
          <p:cNvPr id="61" name="Shape 47"/>
          <p:cNvSpPr/>
          <p:nvPr/>
        </p:nvSpPr>
        <p:spPr>
          <a:xfrm>
            <a:off x="6263640" y="3520440"/>
            <a:ext cx="21945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6263640" y="358444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</a:t>
            </a:r>
            <a:endParaRPr lang="en-US" sz="700" dirty="0"/>
          </a:p>
        </p:txBody>
      </p:sp>
      <p:sp>
        <p:nvSpPr>
          <p:cNvPr id="63" name="Text 49"/>
          <p:cNvSpPr/>
          <p:nvPr/>
        </p:nvSpPr>
        <p:spPr>
          <a:xfrm>
            <a:off x="62636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 / キャンピングカー特化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54864" cy="41148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まとめ・Next Steps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640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097280"/>
            <a:ext cx="3749040" cy="1463040"/>
          </a:xfrm>
          <a:prstGeom prst="rect">
            <a:avLst/>
          </a:prstGeom>
          <a:solidFill>
            <a:srgbClr val="007B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事業の要約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961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146304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事業モデル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1097280" y="15910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千葉県拠点のレンタカー事業（個人事業主・副業）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9656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17830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1097280" y="19110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首都圏ファミリー・マイカー非保有層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39696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103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差別化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1097280" y="22311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レジャー特化 × 高品質 × 柔軟運営 × AI活用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640080" y="2697480"/>
            <a:ext cx="3749040" cy="118872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78892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数値サマリー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22960" y="30632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初期投資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822960" y="32186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700-1,000万円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2651760" y="30632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月間利益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2651760" y="32186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2-5万円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22960" y="35204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借入希望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822960" y="3675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800-1,000万円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2651760" y="35204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自己資金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2651760" y="3675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200万円</a:t>
            </a:r>
            <a:endParaRPr lang="en-US" sz="14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097280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29200" y="1078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1417320"/>
            <a:ext cx="374904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1417320"/>
            <a:ext cx="36576" cy="548640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38" name="Shape 30"/>
          <p:cNvSpPr/>
          <p:nvPr/>
        </p:nvSpPr>
        <p:spPr>
          <a:xfrm>
            <a:off x="4937760" y="1508760"/>
            <a:ext cx="274320" cy="274320"/>
          </a:xfrm>
          <a:prstGeom prst="ellipse">
            <a:avLst/>
          </a:prstGeom>
          <a:solidFill>
            <a:srgbClr val="007BFF"/>
          </a:solidFill>
          <a:ln/>
        </p:spPr>
      </p:sp>
      <p:sp>
        <p:nvSpPr>
          <p:cNvPr id="39" name="Text 31"/>
          <p:cNvSpPr/>
          <p:nvPr/>
        </p:nvSpPr>
        <p:spPr>
          <a:xfrm>
            <a:off x="493776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349240" y="1490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車両取得・開業準備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349240" y="1691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中古車購入、レンタカー事業許可取得、保険加入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4754880" y="2057400"/>
            <a:ext cx="374904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754880" y="2057400"/>
            <a:ext cx="36576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36"/>
          <p:cNvSpPr/>
          <p:nvPr/>
        </p:nvSpPr>
        <p:spPr>
          <a:xfrm>
            <a:off x="4937760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37"/>
          <p:cNvSpPr/>
          <p:nvPr/>
        </p:nvSpPr>
        <p:spPr>
          <a:xfrm>
            <a:off x="49377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5349240" y="21305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Webサイト・集客基盤構築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5349240" y="2331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予約サイト構築、Googleマップ登録、SNS開設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4754880" y="2697480"/>
            <a:ext cx="3749040" cy="5486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4754880" y="2697480"/>
            <a:ext cx="36576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Shape 42"/>
          <p:cNvSpPr/>
          <p:nvPr/>
        </p:nvSpPr>
        <p:spPr>
          <a:xfrm>
            <a:off x="4937760" y="27889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3"/>
          <p:cNvSpPr/>
          <p:nvPr/>
        </p:nvSpPr>
        <p:spPr>
          <a:xfrm>
            <a:off x="493776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5349240" y="2770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営業開始・稼働率向上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5349240" y="29718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テスト運営、口コミ蓄積、月間稼働12日以上を目標</a:t>
            </a:r>
            <a:endParaRPr lang="en-US" sz="700" dirty="0"/>
          </a:p>
        </p:txBody>
      </p:sp>
      <p:sp>
        <p:nvSpPr>
          <p:cNvPr id="54" name="Shape 46"/>
          <p:cNvSpPr/>
          <p:nvPr/>
        </p:nvSpPr>
        <p:spPr>
          <a:xfrm>
            <a:off x="4754880" y="3474720"/>
            <a:ext cx="374904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566160"/>
            <a:ext cx="182880" cy="18288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51206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資金調達のお願い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4892040" y="385876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調達額</a:t>
            </a:r>
            <a:endParaRPr lang="en-US" sz="600" dirty="0"/>
          </a:p>
        </p:txBody>
      </p:sp>
      <p:sp>
        <p:nvSpPr>
          <p:cNvPr id="58" name="Text 49"/>
          <p:cNvSpPr/>
          <p:nvPr/>
        </p:nvSpPr>
        <p:spPr>
          <a:xfrm>
            <a:off x="4892040" y="3995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800-1,000万円</a:t>
            </a:r>
            <a:endParaRPr lang="en-US" sz="1400" dirty="0"/>
          </a:p>
        </p:txBody>
      </p:sp>
      <p:sp>
        <p:nvSpPr>
          <p:cNvPr id="59" name="Text 50"/>
          <p:cNvSpPr/>
          <p:nvPr/>
        </p:nvSpPr>
        <p:spPr>
          <a:xfrm>
            <a:off x="6583680" y="385876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600" dirty="0"/>
          </a:p>
        </p:txBody>
      </p:sp>
      <p:sp>
        <p:nvSpPr>
          <p:cNvPr id="60" name="Text 51"/>
          <p:cNvSpPr/>
          <p:nvPr/>
        </p:nvSpPr>
        <p:spPr>
          <a:xfrm>
            <a:off x="6583680" y="3995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車両購入＋運転資金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B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914400"/>
            <a:ext cx="640080" cy="640080"/>
          </a:xfrm>
          <a:prstGeom prst="ellipse">
            <a:avLst/>
          </a:prstGeom>
          <a:solidFill>
            <a:srgbClr val="007B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03327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78308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114800" y="2788920"/>
            <a:ext cx="914400" cy="54864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3017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RENTAL CAR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0" y="33375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AIレンタカー事業計画書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84048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3840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千葉県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84048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info@ai-rentalcar.jp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40080" y="4800600"/>
            <a:ext cx="78638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AIレンタカー - Confidential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7315200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pPr algn="r" indent="0" marL="0">
              <a:buNone/>
            </a:pPr>
            <a:r>
              <a:rPr lang="en-US" sz="9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AIレンタカー 事業計画書</dc:title>
  <dc:subject>PptxGenJS Presentation</dc:subject>
  <dc:creator>AIレンタカー</dc:creator>
  <cp:lastModifiedBy>AIレンタカー</cp:lastModifiedBy>
  <cp:revision>1</cp:revision>
  <dcterms:created xsi:type="dcterms:W3CDTF">2026-02-10T03:41:00Z</dcterms:created>
  <dcterms:modified xsi:type="dcterms:W3CDTF">2026-02-10T03:41:00Z</dcterms:modified>
</cp:coreProperties>
</file>